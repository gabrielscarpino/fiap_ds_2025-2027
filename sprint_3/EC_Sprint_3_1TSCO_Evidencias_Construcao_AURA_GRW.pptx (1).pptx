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Poppins"/>
      <p:regular r:id="rId46"/>
      <p:bold r:id="rId47"/>
      <p:italic r:id="rId48"/>
      <p:boldItalic r:id="rId49"/>
    </p:embeddedFont>
    <p:embeddedFont>
      <p:font typeface="Google Sans"/>
      <p:regular r:id="rId50"/>
      <p:bold r:id="rId51"/>
      <p:italic r:id="rId52"/>
      <p:boldItalic r:id="rId53"/>
    </p:embeddedFont>
    <p:embeddedFont>
      <p:font typeface="Roboto Light"/>
      <p:regular r:id="rId54"/>
      <p:bold r:id="rId55"/>
      <p:italic r:id="rId56"/>
      <p:boldItalic r:id="rId57"/>
    </p:embeddedFont>
    <p:embeddedFont>
      <p:font typeface="Poppins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i08JVpxEu7pz9QBBbmjGGl+qJe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E5F564-A7F1-4FA2-8334-4BBE50239D53}">
  <a:tblStyle styleId="{34E5F564-A7F1-4FA2-8334-4BBE50239D53}" styleName="Table_0">
    <a:wholeTbl>
      <a:tcTxStyle b="off" i="off">
        <a:font>
          <a:latin typeface="Poppins"/>
          <a:ea typeface="Poppins"/>
          <a:cs typeface="Poppi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 b="off" i="off"/>
      <a:tcStyle>
        <a:fill>
          <a:solidFill>
            <a:srgbClr val="F5D8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5D8CA"/>
          </a:solidFill>
        </a:fill>
      </a:tcStyle>
    </a:band1V>
    <a:band2V>
      <a:tcTxStyle b="off" i="off"/>
    </a:band2V>
    <a:lastCol>
      <a:tcTxStyle b="on" i="off">
        <a:font>
          <a:latin typeface="Poppins"/>
          <a:ea typeface="Poppins"/>
          <a:cs typeface="Poppi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Poppins"/>
          <a:ea typeface="Poppins"/>
          <a:cs typeface="Poppi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Poppins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italic.fntdata"/><Relationship Id="rId47" Type="http://schemas.openxmlformats.org/officeDocument/2006/relationships/font" Target="fonts/Poppins-bold.fntdata"/><Relationship Id="rId49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PoppinsSemi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SemiBold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oogleSans-bold.fntdata"/><Relationship Id="rId50" Type="http://schemas.openxmlformats.org/officeDocument/2006/relationships/font" Target="fonts/GoogleSans-regular.fntdata"/><Relationship Id="rId53" Type="http://schemas.openxmlformats.org/officeDocument/2006/relationships/font" Target="fonts/GoogleSans-boldItalic.fntdata"/><Relationship Id="rId52" Type="http://schemas.openxmlformats.org/officeDocument/2006/relationships/font" Target="fonts/GoogleSans-italic.fntdata"/><Relationship Id="rId11" Type="http://schemas.openxmlformats.org/officeDocument/2006/relationships/slide" Target="slides/slide6.xml"/><Relationship Id="rId55" Type="http://schemas.openxmlformats.org/officeDocument/2006/relationships/font" Target="fonts/RobotoLight-bold.fntdata"/><Relationship Id="rId10" Type="http://schemas.openxmlformats.org/officeDocument/2006/relationships/slide" Target="slides/slide5.xml"/><Relationship Id="rId54" Type="http://schemas.openxmlformats.org/officeDocument/2006/relationships/font" Target="fonts/RobotoLight-regular.fntdata"/><Relationship Id="rId13" Type="http://schemas.openxmlformats.org/officeDocument/2006/relationships/slide" Target="slides/slide8.xml"/><Relationship Id="rId57" Type="http://schemas.openxmlformats.org/officeDocument/2006/relationships/font" Target="fonts/RobotoLight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Light-italic.fntdata"/><Relationship Id="rId15" Type="http://schemas.openxmlformats.org/officeDocument/2006/relationships/slide" Target="slides/slide10.xml"/><Relationship Id="rId59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58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7" name="Google Shape;9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d8281e9df8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3" name="Google Shape;963;g3d8281e9df8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8" name="Google Shape;9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4" name="Google Shape;9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2" name="Google Shape;10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8" name="Google Shape;10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5" name="Google Shape;10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d8281e9df8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3d8281e9df8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7" name="Google Shape;105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4" name="Google Shape;10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1" name="Google Shape;10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84" name="Google Shape;10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0" name="Google Shape;10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7" name="Google Shape;10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4" name="Google Shape;11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2" name="Google Shape;11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0" name="Google Shape;11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d8281e9df8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7" name="Google Shape;1137;g3d8281e9df8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d8281e9df8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g3d8281e9df8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3" name="Google Shape;1143;g3d8281e9df8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d8281e9df8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9" name="Google Shape;1149;g3d8281e9df8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d8b7783383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6" name="Google Shape;1156;g3d8b7783383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d8b7783383_3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2" name="Google Shape;1162;g3d8b7783383_3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d8b7783383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5" name="Google Shape;1175;g3d8b7783383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d8281e9df8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d8281e9df8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g3d8281e9df8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d8281e9df8_1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d8281e9df8_1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g3d8281e9df8_1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d8281e9df8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d8281e9df8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g3d8281e9df8_1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d8281e9df8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3d8281e9df8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3d8281e9df8_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3" name="Google Shape;121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844000" y="831918"/>
            <a:ext cx="10521992" cy="40692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Font typeface="Poppins SemiBold"/>
              <a:buNone/>
              <a:defRPr sz="2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843999" y="5076496"/>
            <a:ext cx="7559021" cy="949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" name="Google Shape;2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1 (Max)" type="obj">
  <p:cSld name="OBJECT">
    <p:bg>
      <p:bgPr>
        <a:solidFill>
          <a:schemeClr val="dk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487716" y="620256"/>
            <a:ext cx="11239215" cy="528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487716" y="1290344"/>
            <a:ext cx="11239214" cy="4524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" name="Google Shape;3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4">
  <p:cSld name="Content Photo 4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487717" y="624108"/>
            <a:ext cx="7190063" cy="1224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487717" y="2059709"/>
            <a:ext cx="7190063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" name="Google Shape;47;p28"/>
          <p:cNvSpPr/>
          <p:nvPr>
            <p:ph idx="2" type="pic"/>
          </p:nvPr>
        </p:nvSpPr>
        <p:spPr>
          <a:xfrm>
            <a:off x="7973961" y="624109"/>
            <a:ext cx="3374039" cy="5401972"/>
          </a:xfrm>
          <a:prstGeom prst="rect">
            <a:avLst/>
          </a:prstGeom>
          <a:noFill/>
          <a:ln>
            <a:noFill/>
          </a:ln>
        </p:spPr>
      </p:sp>
      <p:pic>
        <p:nvPicPr>
          <p:cNvPr id="48" name="Google Shape;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ctrTitle"/>
          </p:nvPr>
        </p:nvSpPr>
        <p:spPr>
          <a:xfrm>
            <a:off x="1981200" y="1040704"/>
            <a:ext cx="8229600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subTitle"/>
          </p:nvPr>
        </p:nvSpPr>
        <p:spPr>
          <a:xfrm>
            <a:off x="1981201" y="3839013"/>
            <a:ext cx="8229600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29"/>
          <p:cNvSpPr txBox="1"/>
          <p:nvPr>
            <p:ph idx="2" type="body"/>
          </p:nvPr>
        </p:nvSpPr>
        <p:spPr>
          <a:xfrm>
            <a:off x="4896806" y="5440259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2" name="Google Shape;6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521624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6812" y="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356812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824628" y="0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824239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0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1649066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9255" y="0"/>
            <a:ext cx="824627" cy="82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subTitle"/>
          </p:nvPr>
        </p:nvSpPr>
        <p:spPr>
          <a:xfrm>
            <a:off x="521207" y="4305712"/>
            <a:ext cx="7478991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521208" y="5985960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" name="Google Shape;7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454261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7478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97477" y="4096388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 showMasterSp="0">
  <p:cSld name="Title 2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 txBox="1"/>
          <p:nvPr>
            <p:ph type="title"/>
          </p:nvPr>
        </p:nvSpPr>
        <p:spPr>
          <a:xfrm>
            <a:off x="655538" y="469911"/>
            <a:ext cx="6027061" cy="36264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" type="subTitle"/>
          </p:nvPr>
        </p:nvSpPr>
        <p:spPr>
          <a:xfrm>
            <a:off x="655538" y="4284643"/>
            <a:ext cx="6027061" cy="124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8" name="Google Shape;88;p31"/>
          <p:cNvSpPr txBox="1"/>
          <p:nvPr>
            <p:ph idx="2" type="body"/>
          </p:nvPr>
        </p:nvSpPr>
        <p:spPr>
          <a:xfrm>
            <a:off x="660399" y="5823597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" name="Google Shape;9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454261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209695" y="124474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7478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97477" y="4096388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9695" y="248569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1">
  <p:cSld name="Title, Photo 1"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2"/>
          <p:cNvSpPr txBox="1"/>
          <p:nvPr>
            <p:ph type="ctrTitle"/>
          </p:nvPr>
        </p:nvSpPr>
        <p:spPr>
          <a:xfrm>
            <a:off x="365760" y="4147451"/>
            <a:ext cx="11460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" type="subTitle"/>
          </p:nvPr>
        </p:nvSpPr>
        <p:spPr>
          <a:xfrm>
            <a:off x="365760" y="5071368"/>
            <a:ext cx="1146048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32"/>
          <p:cNvSpPr txBox="1"/>
          <p:nvPr>
            <p:ph idx="2" type="body"/>
          </p:nvPr>
        </p:nvSpPr>
        <p:spPr>
          <a:xfrm>
            <a:off x="365760" y="5823597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" name="Google Shape;109;p32"/>
          <p:cNvSpPr/>
          <p:nvPr>
            <p:ph idx="3" type="pic"/>
          </p:nvPr>
        </p:nvSpPr>
        <p:spPr>
          <a:xfrm>
            <a:off x="0" y="1"/>
            <a:ext cx="12192000" cy="3906175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2"/>
          <p:cNvSpPr/>
          <p:nvPr>
            <p:ph idx="4" type="pic"/>
          </p:nvPr>
        </p:nvSpPr>
        <p:spPr>
          <a:xfrm>
            <a:off x="0" y="0"/>
            <a:ext cx="12191999" cy="3906175"/>
          </a:xfrm>
          <a:prstGeom prst="rect">
            <a:avLst/>
          </a:prstGeom>
          <a:noFill/>
          <a:ln>
            <a:noFill/>
          </a:ln>
        </p:spPr>
      </p:sp>
      <p:pic>
        <p:nvPicPr>
          <p:cNvPr id="111" name="Google Shape;11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521624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6812" y="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356812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hoto 2">
  <p:cSld name="Title Photo 2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type="ctrTitle"/>
          </p:nvPr>
        </p:nvSpPr>
        <p:spPr>
          <a:xfrm>
            <a:off x="7377509" y="1008471"/>
            <a:ext cx="4361688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3"/>
          <p:cNvSpPr/>
          <p:nvPr>
            <p:ph idx="2" type="pic"/>
          </p:nvPr>
        </p:nvSpPr>
        <p:spPr>
          <a:xfrm>
            <a:off x="0" y="-3768"/>
            <a:ext cx="5162842" cy="6861768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33"/>
          <p:cNvSpPr txBox="1"/>
          <p:nvPr>
            <p:ph idx="1" type="subTitle"/>
          </p:nvPr>
        </p:nvSpPr>
        <p:spPr>
          <a:xfrm>
            <a:off x="7377509" y="4653511"/>
            <a:ext cx="4361687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33"/>
          <p:cNvSpPr txBox="1"/>
          <p:nvPr>
            <p:ph idx="3" type="body"/>
          </p:nvPr>
        </p:nvSpPr>
        <p:spPr>
          <a:xfrm>
            <a:off x="7377509" y="6011379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0" type="dt"/>
          </p:nvPr>
        </p:nvSpPr>
        <p:spPr>
          <a:xfrm>
            <a:off x="8995996" y="2804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11" type="ftr"/>
          </p:nvPr>
        </p:nvSpPr>
        <p:spPr>
          <a:xfrm>
            <a:off x="5410198" y="6356350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2" type="sldNum"/>
          </p:nvPr>
        </p:nvSpPr>
        <p:spPr>
          <a:xfrm>
            <a:off x="89959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35188" y="82924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-3769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0" y="831026"/>
            <a:ext cx="835188" cy="83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hoto 3">
  <p:cSld name="Title Photo 3"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ctrTitle"/>
          </p:nvPr>
        </p:nvSpPr>
        <p:spPr>
          <a:xfrm>
            <a:off x="365760" y="804793"/>
            <a:ext cx="626872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subTitle"/>
          </p:nvPr>
        </p:nvSpPr>
        <p:spPr>
          <a:xfrm>
            <a:off x="365760" y="4718622"/>
            <a:ext cx="6268720" cy="79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8" name="Google Shape;128;p34"/>
          <p:cNvSpPr/>
          <p:nvPr>
            <p:ph idx="2" type="pic"/>
          </p:nvPr>
        </p:nvSpPr>
        <p:spPr>
          <a:xfrm flipH="1">
            <a:off x="7029158" y="-3768"/>
            <a:ext cx="5162842" cy="6861768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 txBox="1"/>
          <p:nvPr>
            <p:ph idx="3" type="body"/>
          </p:nvPr>
        </p:nvSpPr>
        <p:spPr>
          <a:xfrm>
            <a:off x="365760" y="5742330"/>
            <a:ext cx="3860800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0" type="dt"/>
          </p:nvPr>
        </p:nvSpPr>
        <p:spPr>
          <a:xfrm>
            <a:off x="36576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1" type="ftr"/>
          </p:nvPr>
        </p:nvSpPr>
        <p:spPr>
          <a:xfrm>
            <a:off x="4038600" y="6356350"/>
            <a:ext cx="2345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2" type="sldNum"/>
          </p:nvPr>
        </p:nvSpPr>
        <p:spPr>
          <a:xfrm>
            <a:off x="365760" y="26573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3" name="Google Shape;13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521624" y="82924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12" y="-3769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1356812" y="831026"/>
            <a:ext cx="835188" cy="83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5"/>
          <p:cNvSpPr txBox="1"/>
          <p:nvPr>
            <p:ph type="ctrTitle"/>
          </p:nvPr>
        </p:nvSpPr>
        <p:spPr>
          <a:xfrm>
            <a:off x="838200" y="11430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lt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0" name="Google Shape;15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2296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258209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2296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3644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2504122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/>
          <p:nvPr>
            <p:ph type="ctrTitle"/>
          </p:nvPr>
        </p:nvSpPr>
        <p:spPr>
          <a:xfrm>
            <a:off x="4038600" y="11430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l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14654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4391871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245913" y="4391871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>
            <p:ph type="ctrTitle"/>
          </p:nvPr>
        </p:nvSpPr>
        <p:spPr>
          <a:xfrm>
            <a:off x="2563091" y="1143000"/>
            <a:ext cx="706581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, 6 items">
  <p:cSld name="Agenda, 6 item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 txBox="1"/>
          <p:nvPr>
            <p:ph type="title"/>
          </p:nvPr>
        </p:nvSpPr>
        <p:spPr>
          <a:xfrm>
            <a:off x="476655" y="1268411"/>
            <a:ext cx="3469871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1" type="body"/>
          </p:nvPr>
        </p:nvSpPr>
        <p:spPr>
          <a:xfrm>
            <a:off x="4346284" y="1328278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2" type="body"/>
          </p:nvPr>
        </p:nvSpPr>
        <p:spPr>
          <a:xfrm>
            <a:off x="4801979" y="1328279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38"/>
          <p:cNvSpPr txBox="1"/>
          <p:nvPr>
            <p:ph idx="3" type="body"/>
          </p:nvPr>
        </p:nvSpPr>
        <p:spPr>
          <a:xfrm>
            <a:off x="4346284" y="3143501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38"/>
          <p:cNvSpPr txBox="1"/>
          <p:nvPr>
            <p:ph idx="4" type="body"/>
          </p:nvPr>
        </p:nvSpPr>
        <p:spPr>
          <a:xfrm>
            <a:off x="4801979" y="3143502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8"/>
          <p:cNvSpPr txBox="1"/>
          <p:nvPr>
            <p:ph idx="5" type="body"/>
          </p:nvPr>
        </p:nvSpPr>
        <p:spPr>
          <a:xfrm>
            <a:off x="4355573" y="4958724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8"/>
          <p:cNvSpPr txBox="1"/>
          <p:nvPr>
            <p:ph idx="6" type="body"/>
          </p:nvPr>
        </p:nvSpPr>
        <p:spPr>
          <a:xfrm>
            <a:off x="4811268" y="4958725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8"/>
          <p:cNvSpPr txBox="1"/>
          <p:nvPr>
            <p:ph idx="7" type="body"/>
          </p:nvPr>
        </p:nvSpPr>
        <p:spPr>
          <a:xfrm>
            <a:off x="8029989" y="1328277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8"/>
          <p:cNvSpPr txBox="1"/>
          <p:nvPr>
            <p:ph idx="8" type="body"/>
          </p:nvPr>
        </p:nvSpPr>
        <p:spPr>
          <a:xfrm>
            <a:off x="8485684" y="1328278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8"/>
          <p:cNvSpPr txBox="1"/>
          <p:nvPr>
            <p:ph idx="9" type="body"/>
          </p:nvPr>
        </p:nvSpPr>
        <p:spPr>
          <a:xfrm>
            <a:off x="8029989" y="3143500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8"/>
          <p:cNvSpPr txBox="1"/>
          <p:nvPr>
            <p:ph idx="13" type="body"/>
          </p:nvPr>
        </p:nvSpPr>
        <p:spPr>
          <a:xfrm>
            <a:off x="8485684" y="3143501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38"/>
          <p:cNvSpPr txBox="1"/>
          <p:nvPr>
            <p:ph idx="14" type="body"/>
          </p:nvPr>
        </p:nvSpPr>
        <p:spPr>
          <a:xfrm>
            <a:off x="8029989" y="4958723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5" type="body"/>
          </p:nvPr>
        </p:nvSpPr>
        <p:spPr>
          <a:xfrm>
            <a:off x="8485684" y="4958724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6" name="Google Shape;18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Agenda 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476655" y="1268411"/>
            <a:ext cx="3469871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9"/>
          <p:cNvSpPr txBox="1"/>
          <p:nvPr>
            <p:ph idx="1" type="body"/>
          </p:nvPr>
        </p:nvSpPr>
        <p:spPr>
          <a:xfrm>
            <a:off x="4303713" y="1268411"/>
            <a:ext cx="6983412" cy="432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9" name="Google Shape;19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ly (Max)">
  <p:cSld name="Content Only (Max)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0"/>
          <p:cNvSpPr txBox="1"/>
          <p:nvPr>
            <p:ph idx="1" type="body"/>
          </p:nvPr>
        </p:nvSpPr>
        <p:spPr>
          <a:xfrm>
            <a:off x="483141" y="367091"/>
            <a:ext cx="11225719" cy="6123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1">
  <p:cSld name="Title, Content 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487717" y="644207"/>
            <a:ext cx="11239215" cy="848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487717" y="1635088"/>
            <a:ext cx="11239215" cy="4203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8" name="Google Shape;21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2">
  <p:cSld name="Title, Content 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480407" y="2385975"/>
            <a:ext cx="4505825" cy="2454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5282413" y="2386584"/>
            <a:ext cx="6429181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1" name="Google Shape;23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3">
  <p:cSld name="Title, Content 3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472440" y="2258568"/>
            <a:ext cx="4513792" cy="3557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5282413" y="2258567"/>
            <a:ext cx="6429181" cy="3557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4" name="Google Shape;24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5">
  <p:cSld name="Title, Content 5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487717" y="623957"/>
            <a:ext cx="4498515" cy="5418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5282413" y="623957"/>
            <a:ext cx="6429181" cy="5418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7" name="Google Shape;2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1416050" y="622569"/>
            <a:ext cx="9360000" cy="24238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1416051" y="3315855"/>
            <a:ext cx="9359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0" name="Google Shape;27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">
  <p:cSld name="Content Photo 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5088194" y="624743"/>
            <a:ext cx="6616613" cy="1224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5094983" y="2059709"/>
            <a:ext cx="6609299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" name="Google Shape;283;p46"/>
          <p:cNvSpPr/>
          <p:nvPr>
            <p:ph idx="2" type="pic"/>
          </p:nvPr>
        </p:nvSpPr>
        <p:spPr>
          <a:xfrm>
            <a:off x="487718" y="624743"/>
            <a:ext cx="4306168" cy="5401337"/>
          </a:xfrm>
          <a:prstGeom prst="rect">
            <a:avLst/>
          </a:prstGeom>
          <a:noFill/>
          <a:ln>
            <a:noFill/>
          </a:ln>
        </p:spPr>
      </p:sp>
      <p:pic>
        <p:nvPicPr>
          <p:cNvPr id="284" name="Google Shape;28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2">
  <p:cSld name="Content Photo 2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487717" y="622570"/>
            <a:ext cx="6516553" cy="135234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487717" y="2059709"/>
            <a:ext cx="6516553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47"/>
          <p:cNvSpPr/>
          <p:nvPr>
            <p:ph idx="2" type="pic"/>
          </p:nvPr>
        </p:nvSpPr>
        <p:spPr>
          <a:xfrm>
            <a:off x="7300451" y="622570"/>
            <a:ext cx="4403831" cy="5403509"/>
          </a:xfrm>
          <a:prstGeom prst="rect">
            <a:avLst/>
          </a:prstGeom>
          <a:noFill/>
          <a:ln>
            <a:noFill/>
          </a:ln>
        </p:spPr>
      </p:sp>
      <p:pic>
        <p:nvPicPr>
          <p:cNvPr id="298" name="Google Shape;29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3">
  <p:cSld name="Content Photo 3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4514220" y="645320"/>
            <a:ext cx="7212711" cy="1224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4514221" y="2059709"/>
            <a:ext cx="7212710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1" name="Google Shape;311;p48"/>
          <p:cNvSpPr/>
          <p:nvPr>
            <p:ph idx="2" type="pic"/>
          </p:nvPr>
        </p:nvSpPr>
        <p:spPr>
          <a:xfrm>
            <a:off x="487718" y="645321"/>
            <a:ext cx="3730322" cy="5380760"/>
          </a:xfrm>
          <a:prstGeom prst="rect">
            <a:avLst/>
          </a:prstGeom>
          <a:noFill/>
          <a:ln>
            <a:noFill/>
          </a:ln>
        </p:spPr>
      </p:sp>
      <p:pic>
        <p:nvPicPr>
          <p:cNvPr id="312" name="Google Shape;31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5">
  <p:cSld name="Content Photo 5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/>
          <p:nvPr>
            <p:ph type="title"/>
          </p:nvPr>
        </p:nvSpPr>
        <p:spPr>
          <a:xfrm>
            <a:off x="6902876" y="620747"/>
            <a:ext cx="4824056" cy="18338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9"/>
          <p:cNvSpPr txBox="1"/>
          <p:nvPr>
            <p:ph idx="1" type="body"/>
          </p:nvPr>
        </p:nvSpPr>
        <p:spPr>
          <a:xfrm>
            <a:off x="6902876" y="2604655"/>
            <a:ext cx="4824056" cy="34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5" name="Google Shape;325;p49"/>
          <p:cNvSpPr/>
          <p:nvPr>
            <p:ph idx="2" type="pic"/>
          </p:nvPr>
        </p:nvSpPr>
        <p:spPr>
          <a:xfrm>
            <a:off x="487718" y="620748"/>
            <a:ext cx="6123792" cy="5405332"/>
          </a:xfrm>
          <a:prstGeom prst="rect">
            <a:avLst/>
          </a:prstGeom>
          <a:noFill/>
          <a:ln>
            <a:noFill/>
          </a:ln>
        </p:spPr>
      </p:sp>
      <p:pic>
        <p:nvPicPr>
          <p:cNvPr id="326" name="Google Shape;32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6">
  <p:cSld name="Content Photo 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487717" y="624108"/>
            <a:ext cx="6246823" cy="18854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487717" y="2752435"/>
            <a:ext cx="6246823" cy="3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p50"/>
          <p:cNvSpPr/>
          <p:nvPr>
            <p:ph idx="2" type="pic"/>
          </p:nvPr>
        </p:nvSpPr>
        <p:spPr>
          <a:xfrm>
            <a:off x="7030721" y="624109"/>
            <a:ext cx="4317280" cy="5401972"/>
          </a:xfrm>
          <a:prstGeom prst="rect">
            <a:avLst/>
          </a:prstGeom>
          <a:noFill/>
          <a:ln>
            <a:noFill/>
          </a:ln>
        </p:spPr>
      </p:sp>
      <p:pic>
        <p:nvPicPr>
          <p:cNvPr id="340" name="Google Shape;34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7">
  <p:cSld name="Content Photo 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6788423" y="622166"/>
            <a:ext cx="4582632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1"/>
          <p:cNvSpPr txBox="1"/>
          <p:nvPr>
            <p:ph idx="1" type="body"/>
          </p:nvPr>
        </p:nvSpPr>
        <p:spPr>
          <a:xfrm>
            <a:off x="6788424" y="1866075"/>
            <a:ext cx="4582632" cy="416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3" name="Google Shape;353;p51"/>
          <p:cNvSpPr/>
          <p:nvPr>
            <p:ph idx="2" type="pic"/>
          </p:nvPr>
        </p:nvSpPr>
        <p:spPr>
          <a:xfrm>
            <a:off x="487717" y="622166"/>
            <a:ext cx="6004524" cy="5422964"/>
          </a:xfrm>
          <a:prstGeom prst="rect">
            <a:avLst/>
          </a:prstGeom>
          <a:noFill/>
          <a:ln>
            <a:noFill/>
          </a:ln>
        </p:spPr>
      </p:sp>
      <p:pic>
        <p:nvPicPr>
          <p:cNvPr id="354" name="Google Shape;35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8">
  <p:cSld name="Content Photo 8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6902876" y="620747"/>
            <a:ext cx="4824056" cy="18338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6902876" y="2784851"/>
            <a:ext cx="4801406" cy="324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7" name="Google Shape;367;p52"/>
          <p:cNvSpPr/>
          <p:nvPr>
            <p:ph idx="2" type="pic"/>
          </p:nvPr>
        </p:nvSpPr>
        <p:spPr>
          <a:xfrm>
            <a:off x="487718" y="620748"/>
            <a:ext cx="6123792" cy="5405332"/>
          </a:xfrm>
          <a:prstGeom prst="rect">
            <a:avLst/>
          </a:prstGeom>
          <a:noFill/>
          <a:ln>
            <a:noFill/>
          </a:ln>
        </p:spPr>
      </p:sp>
      <p:pic>
        <p:nvPicPr>
          <p:cNvPr id="368" name="Google Shape;36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9">
  <p:cSld name="Content Photo 9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7880325" y="637365"/>
            <a:ext cx="3467675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Poppi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1" type="body"/>
          </p:nvPr>
        </p:nvSpPr>
        <p:spPr>
          <a:xfrm>
            <a:off x="7880325" y="2306316"/>
            <a:ext cx="3467675" cy="371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p53"/>
          <p:cNvSpPr/>
          <p:nvPr>
            <p:ph idx="2" type="pic"/>
          </p:nvPr>
        </p:nvSpPr>
        <p:spPr>
          <a:xfrm>
            <a:off x="487717" y="622570"/>
            <a:ext cx="7096427" cy="5403509"/>
          </a:xfrm>
          <a:prstGeom prst="rect">
            <a:avLst/>
          </a:prstGeom>
          <a:noFill/>
          <a:ln>
            <a:noFill/>
          </a:ln>
        </p:spPr>
      </p:sp>
      <p:pic>
        <p:nvPicPr>
          <p:cNvPr id="382" name="Google Shape;38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2">
  <p:cSld name="Content Photo 12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843998" y="4509559"/>
            <a:ext cx="4579339" cy="15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Poppi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4"/>
          <p:cNvSpPr txBox="1"/>
          <p:nvPr>
            <p:ph idx="1" type="body"/>
          </p:nvPr>
        </p:nvSpPr>
        <p:spPr>
          <a:xfrm>
            <a:off x="5691351" y="4508939"/>
            <a:ext cx="5651393" cy="15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5" name="Google Shape;395;p54"/>
          <p:cNvSpPr/>
          <p:nvPr>
            <p:ph idx="2" type="pic"/>
          </p:nvPr>
        </p:nvSpPr>
        <p:spPr>
          <a:xfrm>
            <a:off x="843999" y="831919"/>
            <a:ext cx="10504001" cy="3472067"/>
          </a:xfrm>
          <a:prstGeom prst="rect">
            <a:avLst/>
          </a:prstGeom>
          <a:noFill/>
          <a:ln>
            <a:noFill/>
          </a:ln>
        </p:spPr>
      </p:sp>
      <p:pic>
        <p:nvPicPr>
          <p:cNvPr id="396" name="Google Shape;396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3">
  <p:cSld name="Content Photo 13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type="title"/>
          </p:nvPr>
        </p:nvSpPr>
        <p:spPr>
          <a:xfrm>
            <a:off x="843999" y="3785800"/>
            <a:ext cx="295361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Poppi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4038601" y="3785181"/>
            <a:ext cx="7304144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9" name="Google Shape;409;p55"/>
          <p:cNvSpPr/>
          <p:nvPr>
            <p:ph idx="2" type="pic"/>
          </p:nvPr>
        </p:nvSpPr>
        <p:spPr>
          <a:xfrm>
            <a:off x="843999" y="865938"/>
            <a:ext cx="10504001" cy="2556004"/>
          </a:xfrm>
          <a:prstGeom prst="rect">
            <a:avLst/>
          </a:prstGeom>
          <a:noFill/>
          <a:ln>
            <a:noFill/>
          </a:ln>
        </p:spPr>
      </p:sp>
      <p:pic>
        <p:nvPicPr>
          <p:cNvPr id="410" name="Google Shape;410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4">
  <p:cSld name="Content Photo 14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6"/>
          <p:cNvSpPr txBox="1"/>
          <p:nvPr>
            <p:ph type="title"/>
          </p:nvPr>
        </p:nvSpPr>
        <p:spPr>
          <a:xfrm>
            <a:off x="844000" y="831918"/>
            <a:ext cx="2953618" cy="224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idx="1" type="body"/>
          </p:nvPr>
        </p:nvSpPr>
        <p:spPr>
          <a:xfrm>
            <a:off x="4061249" y="831918"/>
            <a:ext cx="7286751" cy="224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3" name="Google Shape;423;p56"/>
          <p:cNvSpPr/>
          <p:nvPr>
            <p:ph idx="2" type="pic"/>
          </p:nvPr>
        </p:nvSpPr>
        <p:spPr>
          <a:xfrm>
            <a:off x="843999" y="3310759"/>
            <a:ext cx="10504001" cy="2722852"/>
          </a:xfrm>
          <a:prstGeom prst="rect">
            <a:avLst/>
          </a:prstGeom>
          <a:noFill/>
          <a:ln>
            <a:noFill/>
          </a:ln>
        </p:spPr>
      </p:sp>
      <p:pic>
        <p:nvPicPr>
          <p:cNvPr id="424" name="Google Shape;42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0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487835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5">
  <p:cSld name="Content Photo 15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873963" y="858337"/>
            <a:ext cx="10504000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57"/>
          <p:cNvSpPr txBox="1"/>
          <p:nvPr>
            <p:ph idx="1" type="body"/>
          </p:nvPr>
        </p:nvSpPr>
        <p:spPr>
          <a:xfrm>
            <a:off x="7227944" y="2080429"/>
            <a:ext cx="4114800" cy="3945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1" name="Google Shape;43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4" name="Google Shape;434;p57"/>
          <p:cNvSpPr/>
          <p:nvPr>
            <p:ph idx="2" type="pic"/>
          </p:nvPr>
        </p:nvSpPr>
        <p:spPr>
          <a:xfrm>
            <a:off x="873963" y="2081048"/>
            <a:ext cx="6157458" cy="3945032"/>
          </a:xfrm>
          <a:prstGeom prst="rect">
            <a:avLst/>
          </a:prstGeom>
          <a:noFill/>
          <a:ln>
            <a:noFill/>
          </a:ln>
        </p:spPr>
      </p:sp>
      <p:pic>
        <p:nvPicPr>
          <p:cNvPr id="435" name="Google Shape;435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6">
  <p:cSld name="Content Photo 16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 txBox="1"/>
          <p:nvPr>
            <p:ph type="title"/>
          </p:nvPr>
        </p:nvSpPr>
        <p:spPr>
          <a:xfrm>
            <a:off x="844000" y="852884"/>
            <a:ext cx="46725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8"/>
          <p:cNvSpPr txBox="1"/>
          <p:nvPr>
            <p:ph idx="1" type="body"/>
          </p:nvPr>
        </p:nvSpPr>
        <p:spPr>
          <a:xfrm>
            <a:off x="5754255" y="852884"/>
            <a:ext cx="5588489" cy="517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5" name="Google Shape;445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8" name="Google Shape;448;p58"/>
          <p:cNvSpPr/>
          <p:nvPr>
            <p:ph idx="2" type="pic"/>
          </p:nvPr>
        </p:nvSpPr>
        <p:spPr>
          <a:xfrm>
            <a:off x="844000" y="2459420"/>
            <a:ext cx="4672584" cy="3545695"/>
          </a:xfrm>
          <a:prstGeom prst="rect">
            <a:avLst/>
          </a:prstGeom>
          <a:noFill/>
          <a:ln>
            <a:noFill/>
          </a:ln>
        </p:spPr>
      </p:sp>
      <p:pic>
        <p:nvPicPr>
          <p:cNvPr id="449" name="Google Shape;44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7">
  <p:cSld name="Content Photo 17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9"/>
          <p:cNvSpPr txBox="1"/>
          <p:nvPr>
            <p:ph type="title"/>
          </p:nvPr>
        </p:nvSpPr>
        <p:spPr>
          <a:xfrm>
            <a:off x="844000" y="873725"/>
            <a:ext cx="3657603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9"/>
          <p:cNvSpPr txBox="1"/>
          <p:nvPr>
            <p:ph idx="1" type="body"/>
          </p:nvPr>
        </p:nvSpPr>
        <p:spPr>
          <a:xfrm>
            <a:off x="4729018" y="873725"/>
            <a:ext cx="6613726" cy="51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2" name="Google Shape;462;p59"/>
          <p:cNvSpPr/>
          <p:nvPr>
            <p:ph idx="2" type="pic"/>
          </p:nvPr>
        </p:nvSpPr>
        <p:spPr>
          <a:xfrm>
            <a:off x="843999" y="2490951"/>
            <a:ext cx="3657603" cy="3493323"/>
          </a:xfrm>
          <a:prstGeom prst="rect">
            <a:avLst/>
          </a:prstGeom>
          <a:noFill/>
          <a:ln>
            <a:noFill/>
          </a:ln>
        </p:spPr>
      </p:sp>
      <p:pic>
        <p:nvPicPr>
          <p:cNvPr id="463" name="Google Shape;46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 Number 2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0"/>
          <p:cNvSpPr txBox="1"/>
          <p:nvPr>
            <p:ph type="ctrTitle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Font typeface="Poppins SemiBold"/>
              <a:buNone/>
              <a:defRPr sz="2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60"/>
          <p:cNvSpPr txBox="1"/>
          <p:nvPr>
            <p:ph idx="1" type="subTitle"/>
          </p:nvPr>
        </p:nvSpPr>
        <p:spPr>
          <a:xfrm>
            <a:off x="2377440" y="4997668"/>
            <a:ext cx="7525512" cy="102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73" name="Google Shape;47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6" name="Google Shape;47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3">
  <p:cSld name="Big Number 3">
    <p:bg>
      <p:bgPr>
        <a:solidFill>
          <a:schemeClr val="dk2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B62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61"/>
          <p:cNvSpPr txBox="1"/>
          <p:nvPr>
            <p:ph type="ctrTitle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Font typeface="Poppins SemiBold"/>
              <a:buNone/>
              <a:defRPr sz="2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61"/>
          <p:cNvSpPr txBox="1"/>
          <p:nvPr>
            <p:ph idx="1" type="subTitle"/>
          </p:nvPr>
        </p:nvSpPr>
        <p:spPr>
          <a:xfrm>
            <a:off x="2377440" y="4997668"/>
            <a:ext cx="7525512" cy="102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7" name="Google Shape;487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90" name="Google Shape;490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2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62"/>
          <p:cNvSpPr txBox="1"/>
          <p:nvPr>
            <p:ph idx="1" type="body"/>
          </p:nvPr>
        </p:nvSpPr>
        <p:spPr>
          <a:xfrm>
            <a:off x="612648" y="630936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03" name="Google Shape;50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193420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0946087" y="317953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4426951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3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63"/>
          <p:cNvSpPr txBox="1"/>
          <p:nvPr>
            <p:ph idx="1" type="body"/>
          </p:nvPr>
        </p:nvSpPr>
        <p:spPr>
          <a:xfrm>
            <a:off x="612648" y="1929384"/>
            <a:ext cx="8266176" cy="4142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9" name="Google Shape;50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2" name="Google Shape;51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193420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0946087" y="317953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4426951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64"/>
          <p:cNvSpPr txBox="1"/>
          <p:nvPr>
            <p:ph idx="1" type="body"/>
          </p:nvPr>
        </p:nvSpPr>
        <p:spPr>
          <a:xfrm>
            <a:off x="612648" y="548640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8" name="Google Shape;51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21" name="Google Shape;52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130884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130884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0946087" y="255417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3801591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Quote 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>
            <p:ph type="ctrTitle"/>
          </p:nvPr>
        </p:nvSpPr>
        <p:spPr>
          <a:xfrm>
            <a:off x="1499616" y="1188720"/>
            <a:ext cx="919886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Poppins SemiBold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65"/>
          <p:cNvSpPr txBox="1"/>
          <p:nvPr>
            <p:ph idx="1" type="subTitle"/>
          </p:nvPr>
        </p:nvSpPr>
        <p:spPr>
          <a:xfrm>
            <a:off x="1499616" y="5428752"/>
            <a:ext cx="9198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620D"/>
              </a:buClr>
              <a:buSzPts val="2200"/>
              <a:buNone/>
              <a:defRPr b="1" sz="2200">
                <a:solidFill>
                  <a:srgbClr val="AB620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8" name="Google Shape;528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31" name="Google Shape;53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dk2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6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AB62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66"/>
          <p:cNvSpPr txBox="1"/>
          <p:nvPr>
            <p:ph type="ctrTitle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Poppins SemiBold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66"/>
          <p:cNvSpPr txBox="1"/>
          <p:nvPr>
            <p:ph idx="1" type="subTitle"/>
          </p:nvPr>
        </p:nvSpPr>
        <p:spPr>
          <a:xfrm>
            <a:off x="1499616" y="5349240"/>
            <a:ext cx="9198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42" name="Google Shape;542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5" name="Google Shape;54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7"/>
          <p:cNvSpPr txBox="1"/>
          <p:nvPr>
            <p:ph type="ctrTitle"/>
          </p:nvPr>
        </p:nvSpPr>
        <p:spPr>
          <a:xfrm>
            <a:off x="844000" y="1234440"/>
            <a:ext cx="8961120" cy="316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Poppins SemiBold"/>
              <a:buNone/>
              <a:defRPr b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67"/>
          <p:cNvSpPr txBox="1"/>
          <p:nvPr>
            <p:ph idx="1" type="subTitle"/>
          </p:nvPr>
        </p:nvSpPr>
        <p:spPr>
          <a:xfrm>
            <a:off x="841793" y="5540026"/>
            <a:ext cx="89611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BE6CC"/>
              </a:buClr>
              <a:buSzPts val="2200"/>
              <a:buNone/>
              <a:defRPr b="1" sz="2200">
                <a:solidFill>
                  <a:srgbClr val="FBE6C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55" name="Google Shape;55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8" name="Google Shape;558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0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6564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170428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28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04282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0728847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8"/>
          <p:cNvSpPr txBox="1"/>
          <p:nvPr>
            <p:ph type="title"/>
          </p:nvPr>
        </p:nvSpPr>
        <p:spPr>
          <a:xfrm>
            <a:off x="838200" y="831919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68"/>
          <p:cNvSpPr txBox="1"/>
          <p:nvPr>
            <p:ph idx="1" type="body"/>
          </p:nvPr>
        </p:nvSpPr>
        <p:spPr>
          <a:xfrm>
            <a:off x="838200" y="2147455"/>
            <a:ext cx="5181600" cy="387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8" name="Google Shape;568;p68"/>
          <p:cNvSpPr txBox="1"/>
          <p:nvPr>
            <p:ph idx="2" type="body"/>
          </p:nvPr>
        </p:nvSpPr>
        <p:spPr>
          <a:xfrm>
            <a:off x="6172200" y="2147455"/>
            <a:ext cx="5181600" cy="387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9" name="Google Shape;569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72" name="Google Shape;57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>
  <p:cSld name="Comparação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9"/>
          <p:cNvSpPr txBox="1"/>
          <p:nvPr>
            <p:ph type="title"/>
          </p:nvPr>
        </p:nvSpPr>
        <p:spPr>
          <a:xfrm>
            <a:off x="886374" y="838988"/>
            <a:ext cx="10461626" cy="1143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69"/>
          <p:cNvSpPr txBox="1"/>
          <p:nvPr>
            <p:ph idx="1" type="body"/>
          </p:nvPr>
        </p:nvSpPr>
        <p:spPr>
          <a:xfrm>
            <a:off x="844000" y="21429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2" name="Google Shape;582;p69"/>
          <p:cNvSpPr txBox="1"/>
          <p:nvPr>
            <p:ph idx="2" type="body"/>
          </p:nvPr>
        </p:nvSpPr>
        <p:spPr>
          <a:xfrm>
            <a:off x="844000" y="2844801"/>
            <a:ext cx="5157788" cy="317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3" name="Google Shape;583;p69"/>
          <p:cNvSpPr txBox="1"/>
          <p:nvPr>
            <p:ph idx="3" type="body"/>
          </p:nvPr>
        </p:nvSpPr>
        <p:spPr>
          <a:xfrm>
            <a:off x="6164812" y="21429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4" name="Google Shape;584;p69"/>
          <p:cNvSpPr txBox="1"/>
          <p:nvPr>
            <p:ph idx="4" type="body"/>
          </p:nvPr>
        </p:nvSpPr>
        <p:spPr>
          <a:xfrm>
            <a:off x="6164812" y="2844801"/>
            <a:ext cx="5183188" cy="317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5" name="Google Shape;585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88" name="Google Shape;58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rix">
  <p:cSld name="Matrix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70"/>
          <p:cNvSpPr/>
          <p:nvPr/>
        </p:nvSpPr>
        <p:spPr>
          <a:xfrm flipH="1">
            <a:off x="4956259" y="2726303"/>
            <a:ext cx="1025765" cy="1025764"/>
          </a:xfrm>
          <a:custGeom>
            <a:rect b="b" l="l" r="r" t="t"/>
            <a:pathLst>
              <a:path extrusionOk="0" h="1244009" w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70"/>
          <p:cNvSpPr/>
          <p:nvPr/>
        </p:nvSpPr>
        <p:spPr>
          <a:xfrm>
            <a:off x="4956260" y="3984399"/>
            <a:ext cx="1025766" cy="1025767"/>
          </a:xfrm>
          <a:custGeom>
            <a:rect b="b" l="l" r="r" t="t"/>
            <a:pathLst>
              <a:path extrusionOk="0" h="808608" w="808607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5" name="Google Shape;605;p70"/>
          <p:cNvSpPr/>
          <p:nvPr/>
        </p:nvSpPr>
        <p:spPr>
          <a:xfrm>
            <a:off x="6209973" y="2726303"/>
            <a:ext cx="1025765" cy="1025764"/>
          </a:xfrm>
          <a:custGeom>
            <a:rect b="b" l="l" r="r" t="t"/>
            <a:pathLst>
              <a:path extrusionOk="0" h="1244009" w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6" name="Google Shape;606;p70"/>
          <p:cNvSpPr/>
          <p:nvPr/>
        </p:nvSpPr>
        <p:spPr>
          <a:xfrm>
            <a:off x="6209974" y="3984400"/>
            <a:ext cx="1025766" cy="1025766"/>
          </a:xfrm>
          <a:custGeom>
            <a:rect b="b" l="l" r="r" t="t"/>
            <a:pathLst>
              <a:path extrusionOk="0" h="808607" w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7" name="Google Shape;607;p70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70"/>
          <p:cNvSpPr txBox="1"/>
          <p:nvPr>
            <p:ph idx="1" type="body"/>
          </p:nvPr>
        </p:nvSpPr>
        <p:spPr>
          <a:xfrm>
            <a:off x="5218024" y="3057469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9" name="Google Shape;609;p70"/>
          <p:cNvSpPr txBox="1"/>
          <p:nvPr>
            <p:ph idx="2" type="body"/>
          </p:nvPr>
        </p:nvSpPr>
        <p:spPr>
          <a:xfrm>
            <a:off x="735198" y="2350267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0" name="Google Shape;610;p70"/>
          <p:cNvSpPr txBox="1"/>
          <p:nvPr>
            <p:ph idx="3" type="body"/>
          </p:nvPr>
        </p:nvSpPr>
        <p:spPr>
          <a:xfrm>
            <a:off x="735196" y="3167183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1" name="Google Shape;611;p70"/>
          <p:cNvSpPr txBox="1"/>
          <p:nvPr>
            <p:ph idx="4" type="body"/>
          </p:nvPr>
        </p:nvSpPr>
        <p:spPr>
          <a:xfrm>
            <a:off x="6471738" y="3057469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2" name="Google Shape;612;p70"/>
          <p:cNvSpPr txBox="1"/>
          <p:nvPr>
            <p:ph idx="5" type="body"/>
          </p:nvPr>
        </p:nvSpPr>
        <p:spPr>
          <a:xfrm>
            <a:off x="7629328" y="2350267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3" name="Google Shape;613;p70"/>
          <p:cNvSpPr txBox="1"/>
          <p:nvPr>
            <p:ph idx="6" type="body"/>
          </p:nvPr>
        </p:nvSpPr>
        <p:spPr>
          <a:xfrm>
            <a:off x="7629326" y="3167183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4" name="Google Shape;614;p70"/>
          <p:cNvSpPr txBox="1"/>
          <p:nvPr>
            <p:ph idx="7" type="body"/>
          </p:nvPr>
        </p:nvSpPr>
        <p:spPr>
          <a:xfrm>
            <a:off x="5218026" y="4315566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5" name="Google Shape;615;p70"/>
          <p:cNvSpPr txBox="1"/>
          <p:nvPr>
            <p:ph idx="8" type="body"/>
          </p:nvPr>
        </p:nvSpPr>
        <p:spPr>
          <a:xfrm>
            <a:off x="735198" y="4087738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6" name="Google Shape;616;p70"/>
          <p:cNvSpPr txBox="1"/>
          <p:nvPr>
            <p:ph idx="9" type="body"/>
          </p:nvPr>
        </p:nvSpPr>
        <p:spPr>
          <a:xfrm>
            <a:off x="735196" y="4904654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7" name="Google Shape;617;p70"/>
          <p:cNvSpPr txBox="1"/>
          <p:nvPr>
            <p:ph idx="13" type="body"/>
          </p:nvPr>
        </p:nvSpPr>
        <p:spPr>
          <a:xfrm>
            <a:off x="6471738" y="4315566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8" name="Google Shape;618;p70"/>
          <p:cNvSpPr txBox="1"/>
          <p:nvPr>
            <p:ph idx="14" type="body"/>
          </p:nvPr>
        </p:nvSpPr>
        <p:spPr>
          <a:xfrm>
            <a:off x="7629328" y="4087738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9" name="Google Shape;619;p70"/>
          <p:cNvSpPr txBox="1"/>
          <p:nvPr>
            <p:ph idx="15" type="body"/>
          </p:nvPr>
        </p:nvSpPr>
        <p:spPr>
          <a:xfrm>
            <a:off x="7629326" y="4904654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0" name="Google Shape;620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cle 1">
  <p:cSld name="Cycle 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1"/>
          <p:cNvSpPr/>
          <p:nvPr/>
        </p:nvSpPr>
        <p:spPr>
          <a:xfrm>
            <a:off x="4452255" y="1785256"/>
            <a:ext cx="2091183" cy="2465804"/>
          </a:xfrm>
          <a:custGeom>
            <a:rect b="b" l="l" r="r" t="t"/>
            <a:pathLst>
              <a:path extrusionOk="0" h="2493359" w="2114550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71"/>
          <p:cNvSpPr/>
          <p:nvPr/>
        </p:nvSpPr>
        <p:spPr>
          <a:xfrm>
            <a:off x="6096000" y="1785256"/>
            <a:ext cx="1643745" cy="2689429"/>
          </a:xfrm>
          <a:custGeom>
            <a:rect b="b" l="l" r="r" t="t"/>
            <a:pathLst>
              <a:path extrusionOk="0" h="2719483" w="1662112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rgbClr val="F2B0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71"/>
          <p:cNvSpPr/>
          <p:nvPr/>
        </p:nvSpPr>
        <p:spPr>
          <a:xfrm>
            <a:off x="4612274" y="3579762"/>
            <a:ext cx="2907426" cy="1492982"/>
          </a:xfrm>
          <a:custGeom>
            <a:rect b="b" l="l" r="r" t="t"/>
            <a:pathLst>
              <a:path extrusionOk="0" h="1509666" w="2939914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71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71"/>
          <p:cNvSpPr txBox="1"/>
          <p:nvPr>
            <p:ph idx="1" type="body"/>
          </p:nvPr>
        </p:nvSpPr>
        <p:spPr>
          <a:xfrm>
            <a:off x="5844883" y="2081211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6" name="Google Shape;636;p71"/>
          <p:cNvSpPr txBox="1"/>
          <p:nvPr>
            <p:ph idx="2" type="body"/>
          </p:nvPr>
        </p:nvSpPr>
        <p:spPr>
          <a:xfrm>
            <a:off x="688964" y="2571409"/>
            <a:ext cx="3732219" cy="605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7" name="Google Shape;637;p71"/>
          <p:cNvSpPr txBox="1"/>
          <p:nvPr>
            <p:ph idx="3" type="body"/>
          </p:nvPr>
        </p:nvSpPr>
        <p:spPr>
          <a:xfrm>
            <a:off x="688964" y="3354800"/>
            <a:ext cx="373221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8" name="Google Shape;638;p71"/>
          <p:cNvSpPr txBox="1"/>
          <p:nvPr>
            <p:ph idx="4" type="body"/>
          </p:nvPr>
        </p:nvSpPr>
        <p:spPr>
          <a:xfrm>
            <a:off x="6897507" y="3876694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9" name="Google Shape;639;p71"/>
          <p:cNvSpPr txBox="1"/>
          <p:nvPr>
            <p:ph idx="5" type="body"/>
          </p:nvPr>
        </p:nvSpPr>
        <p:spPr>
          <a:xfrm>
            <a:off x="7770817" y="2571409"/>
            <a:ext cx="3732219" cy="605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0" name="Google Shape;640;p71"/>
          <p:cNvSpPr txBox="1"/>
          <p:nvPr>
            <p:ph idx="6" type="body"/>
          </p:nvPr>
        </p:nvSpPr>
        <p:spPr>
          <a:xfrm>
            <a:off x="7770817" y="3354800"/>
            <a:ext cx="373221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1" name="Google Shape;641;p71"/>
          <p:cNvSpPr txBox="1"/>
          <p:nvPr>
            <p:ph idx="7" type="body"/>
          </p:nvPr>
        </p:nvSpPr>
        <p:spPr>
          <a:xfrm>
            <a:off x="4792259" y="3876693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2" name="Google Shape;642;p71"/>
          <p:cNvSpPr txBox="1"/>
          <p:nvPr>
            <p:ph idx="8" type="body"/>
          </p:nvPr>
        </p:nvSpPr>
        <p:spPr>
          <a:xfrm>
            <a:off x="4229891" y="5144316"/>
            <a:ext cx="3732219" cy="605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3" name="Google Shape;643;p71"/>
          <p:cNvSpPr txBox="1"/>
          <p:nvPr>
            <p:ph idx="9" type="body"/>
          </p:nvPr>
        </p:nvSpPr>
        <p:spPr>
          <a:xfrm>
            <a:off x="4229891" y="5927707"/>
            <a:ext cx="373221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4" name="Google Shape;644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cle 2">
  <p:cSld name="Cycle 2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2"/>
          <p:cNvSpPr/>
          <p:nvPr/>
        </p:nvSpPr>
        <p:spPr>
          <a:xfrm>
            <a:off x="2288608" y="2673484"/>
            <a:ext cx="7614784" cy="1510446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6" name="Google Shape;656;p72"/>
          <p:cNvSpPr/>
          <p:nvPr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7" name="Google Shape;657;p72"/>
          <p:cNvSpPr/>
          <p:nvPr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72"/>
          <p:cNvSpPr/>
          <p:nvPr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9" name="Google Shape;659;p72"/>
          <p:cNvSpPr/>
          <p:nvPr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0" name="Google Shape;660;p72"/>
          <p:cNvSpPr/>
          <p:nvPr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1" name="Google Shape;661;p72"/>
          <p:cNvSpPr/>
          <p:nvPr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2" name="Google Shape;662;p72"/>
          <p:cNvSpPr/>
          <p:nvPr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3" name="Google Shape;663;p72"/>
          <p:cNvSpPr/>
          <p:nvPr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4" name="Google Shape;664;p72"/>
          <p:cNvSpPr txBox="1"/>
          <p:nvPr>
            <p:ph type="title"/>
          </p:nvPr>
        </p:nvSpPr>
        <p:spPr>
          <a:xfrm>
            <a:off x="2240400" y="2855363"/>
            <a:ext cx="77112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72"/>
          <p:cNvSpPr txBox="1"/>
          <p:nvPr>
            <p:ph idx="1" type="body"/>
          </p:nvPr>
        </p:nvSpPr>
        <p:spPr>
          <a:xfrm>
            <a:off x="3462135" y="256191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6" name="Google Shape;666;p72"/>
          <p:cNvSpPr txBox="1"/>
          <p:nvPr>
            <p:ph idx="2" type="body"/>
          </p:nvPr>
        </p:nvSpPr>
        <p:spPr>
          <a:xfrm>
            <a:off x="2627195" y="895747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7" name="Google Shape;667;p72"/>
          <p:cNvSpPr txBox="1"/>
          <p:nvPr>
            <p:ph idx="3" type="body"/>
          </p:nvPr>
        </p:nvSpPr>
        <p:spPr>
          <a:xfrm>
            <a:off x="2627195" y="1712663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8" name="Google Shape;668;p72"/>
          <p:cNvSpPr txBox="1"/>
          <p:nvPr>
            <p:ph idx="4" type="body"/>
          </p:nvPr>
        </p:nvSpPr>
        <p:spPr>
          <a:xfrm>
            <a:off x="5844883" y="256191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9" name="Google Shape;669;p72"/>
          <p:cNvSpPr txBox="1"/>
          <p:nvPr>
            <p:ph idx="5" type="body"/>
          </p:nvPr>
        </p:nvSpPr>
        <p:spPr>
          <a:xfrm>
            <a:off x="5009943" y="895747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0" name="Google Shape;670;p72"/>
          <p:cNvSpPr txBox="1"/>
          <p:nvPr>
            <p:ph idx="6" type="body"/>
          </p:nvPr>
        </p:nvSpPr>
        <p:spPr>
          <a:xfrm>
            <a:off x="5009943" y="1712663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p72"/>
          <p:cNvSpPr txBox="1"/>
          <p:nvPr>
            <p:ph idx="7" type="body"/>
          </p:nvPr>
        </p:nvSpPr>
        <p:spPr>
          <a:xfrm>
            <a:off x="8223147" y="256191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2" name="Google Shape;672;p72"/>
          <p:cNvSpPr txBox="1"/>
          <p:nvPr>
            <p:ph idx="8" type="body"/>
          </p:nvPr>
        </p:nvSpPr>
        <p:spPr>
          <a:xfrm>
            <a:off x="7392691" y="895747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3" name="Google Shape;673;p72"/>
          <p:cNvSpPr txBox="1"/>
          <p:nvPr>
            <p:ph idx="9" type="body"/>
          </p:nvPr>
        </p:nvSpPr>
        <p:spPr>
          <a:xfrm>
            <a:off x="7392691" y="1712663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4" name="Google Shape;674;p72"/>
          <p:cNvSpPr txBox="1"/>
          <p:nvPr>
            <p:ph idx="13" type="body"/>
          </p:nvPr>
        </p:nvSpPr>
        <p:spPr>
          <a:xfrm>
            <a:off x="8223147" y="4056516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5" name="Google Shape;675;p72"/>
          <p:cNvSpPr txBox="1"/>
          <p:nvPr>
            <p:ph idx="14" type="body"/>
          </p:nvPr>
        </p:nvSpPr>
        <p:spPr>
          <a:xfrm>
            <a:off x="7392691" y="4593038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6" name="Google Shape;676;p72"/>
          <p:cNvSpPr txBox="1"/>
          <p:nvPr>
            <p:ph idx="15" type="body"/>
          </p:nvPr>
        </p:nvSpPr>
        <p:spPr>
          <a:xfrm>
            <a:off x="7392691" y="5409954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7" name="Google Shape;677;p72"/>
          <p:cNvSpPr txBox="1"/>
          <p:nvPr>
            <p:ph idx="16" type="body"/>
          </p:nvPr>
        </p:nvSpPr>
        <p:spPr>
          <a:xfrm>
            <a:off x="5842641" y="404735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8" name="Google Shape;678;p72"/>
          <p:cNvSpPr txBox="1"/>
          <p:nvPr>
            <p:ph idx="17" type="body"/>
          </p:nvPr>
        </p:nvSpPr>
        <p:spPr>
          <a:xfrm>
            <a:off x="5009943" y="4593038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9" name="Google Shape;679;p72"/>
          <p:cNvSpPr txBox="1"/>
          <p:nvPr>
            <p:ph idx="18" type="body"/>
          </p:nvPr>
        </p:nvSpPr>
        <p:spPr>
          <a:xfrm>
            <a:off x="5009943" y="5409954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p72"/>
          <p:cNvSpPr txBox="1"/>
          <p:nvPr>
            <p:ph idx="19" type="body"/>
          </p:nvPr>
        </p:nvSpPr>
        <p:spPr>
          <a:xfrm>
            <a:off x="3462135" y="4040581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1" name="Google Shape;681;p72"/>
          <p:cNvSpPr txBox="1"/>
          <p:nvPr>
            <p:ph idx="20" type="body"/>
          </p:nvPr>
        </p:nvSpPr>
        <p:spPr>
          <a:xfrm>
            <a:off x="2627195" y="4593038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2" name="Google Shape;682;p72"/>
          <p:cNvSpPr txBox="1"/>
          <p:nvPr>
            <p:ph idx="21" type="body"/>
          </p:nvPr>
        </p:nvSpPr>
        <p:spPr>
          <a:xfrm>
            <a:off x="2627195" y="5409954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3" name="Google Shape;683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">
  <p:cSld name="Process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4" name="Google Shape;694;p73"/>
          <p:cNvCxnSpPr/>
          <p:nvPr/>
        </p:nvCxnSpPr>
        <p:spPr>
          <a:xfrm>
            <a:off x="0" y="34290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5" name="Google Shape;695;p73"/>
          <p:cNvSpPr/>
          <p:nvPr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6" name="Google Shape;696;p73"/>
          <p:cNvSpPr/>
          <p:nvPr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7" name="Google Shape;697;p73"/>
          <p:cNvSpPr/>
          <p:nvPr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8" name="Google Shape;698;p73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73"/>
          <p:cNvSpPr txBox="1"/>
          <p:nvPr>
            <p:ph idx="1" type="body"/>
          </p:nvPr>
        </p:nvSpPr>
        <p:spPr>
          <a:xfrm>
            <a:off x="1687293" y="329242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0" name="Google Shape;700;p73"/>
          <p:cNvSpPr txBox="1"/>
          <p:nvPr>
            <p:ph idx="2" type="body"/>
          </p:nvPr>
        </p:nvSpPr>
        <p:spPr>
          <a:xfrm>
            <a:off x="634669" y="2165720"/>
            <a:ext cx="2607482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1" name="Google Shape;701;p73"/>
          <p:cNvSpPr txBox="1"/>
          <p:nvPr>
            <p:ph idx="3" type="body"/>
          </p:nvPr>
        </p:nvSpPr>
        <p:spPr>
          <a:xfrm>
            <a:off x="731576" y="4073144"/>
            <a:ext cx="2607482" cy="158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2" name="Google Shape;702;p73"/>
          <p:cNvSpPr txBox="1"/>
          <p:nvPr>
            <p:ph idx="4" type="body"/>
          </p:nvPr>
        </p:nvSpPr>
        <p:spPr>
          <a:xfrm>
            <a:off x="5844883" y="329242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3" name="Google Shape;703;p73"/>
          <p:cNvSpPr txBox="1"/>
          <p:nvPr>
            <p:ph idx="5" type="body"/>
          </p:nvPr>
        </p:nvSpPr>
        <p:spPr>
          <a:xfrm>
            <a:off x="4792259" y="2165720"/>
            <a:ext cx="2607482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4" name="Google Shape;704;p73"/>
          <p:cNvSpPr txBox="1"/>
          <p:nvPr>
            <p:ph idx="6" type="body"/>
          </p:nvPr>
        </p:nvSpPr>
        <p:spPr>
          <a:xfrm>
            <a:off x="4792259" y="4073144"/>
            <a:ext cx="2607482" cy="158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5" name="Google Shape;705;p73"/>
          <p:cNvSpPr txBox="1"/>
          <p:nvPr>
            <p:ph idx="7" type="body"/>
          </p:nvPr>
        </p:nvSpPr>
        <p:spPr>
          <a:xfrm>
            <a:off x="10024668" y="329242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6" name="Google Shape;706;p73"/>
          <p:cNvSpPr txBox="1"/>
          <p:nvPr>
            <p:ph idx="8" type="body"/>
          </p:nvPr>
        </p:nvSpPr>
        <p:spPr>
          <a:xfrm>
            <a:off x="8972044" y="2165720"/>
            <a:ext cx="2607482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7" name="Google Shape;707;p73"/>
          <p:cNvSpPr txBox="1"/>
          <p:nvPr>
            <p:ph idx="9" type="body"/>
          </p:nvPr>
        </p:nvSpPr>
        <p:spPr>
          <a:xfrm>
            <a:off x="8972044" y="4073144"/>
            <a:ext cx="2607482" cy="158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8" name="Google Shape;708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4"/>
          <p:cNvSpPr txBox="1"/>
          <p:nvPr>
            <p:ph type="title"/>
          </p:nvPr>
        </p:nvSpPr>
        <p:spPr>
          <a:xfrm>
            <a:off x="467360" y="619059"/>
            <a:ext cx="3759200" cy="559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16" name="Google Shape;716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-item Lists">
  <p:cSld name="Title and 3-item Lists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5"/>
          <p:cNvSpPr txBox="1"/>
          <p:nvPr>
            <p:ph type="title"/>
          </p:nvPr>
        </p:nvSpPr>
        <p:spPr>
          <a:xfrm>
            <a:off x="467360" y="619059"/>
            <a:ext cx="3759200" cy="559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75"/>
          <p:cNvSpPr txBox="1"/>
          <p:nvPr>
            <p:ph idx="1" type="body"/>
          </p:nvPr>
        </p:nvSpPr>
        <p:spPr>
          <a:xfrm>
            <a:off x="4754564" y="619059"/>
            <a:ext cx="61483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3" name="Google Shape;733;p75"/>
          <p:cNvSpPr txBox="1"/>
          <p:nvPr>
            <p:ph idx="2" type="body"/>
          </p:nvPr>
        </p:nvSpPr>
        <p:spPr>
          <a:xfrm>
            <a:off x="4754563" y="1408490"/>
            <a:ext cx="61483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4" name="Google Shape;734;p75"/>
          <p:cNvSpPr txBox="1"/>
          <p:nvPr>
            <p:ph idx="3" type="body"/>
          </p:nvPr>
        </p:nvSpPr>
        <p:spPr>
          <a:xfrm>
            <a:off x="4754564" y="2698273"/>
            <a:ext cx="61483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5" name="Google Shape;735;p75"/>
          <p:cNvSpPr txBox="1"/>
          <p:nvPr>
            <p:ph idx="4" type="body"/>
          </p:nvPr>
        </p:nvSpPr>
        <p:spPr>
          <a:xfrm>
            <a:off x="4754563" y="3487704"/>
            <a:ext cx="61483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6" name="Google Shape;736;p75"/>
          <p:cNvSpPr txBox="1"/>
          <p:nvPr>
            <p:ph idx="5" type="body"/>
          </p:nvPr>
        </p:nvSpPr>
        <p:spPr>
          <a:xfrm>
            <a:off x="4754564" y="4777487"/>
            <a:ext cx="61483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7" name="Google Shape;737;p75"/>
          <p:cNvSpPr txBox="1"/>
          <p:nvPr>
            <p:ph idx="6" type="body"/>
          </p:nvPr>
        </p:nvSpPr>
        <p:spPr>
          <a:xfrm>
            <a:off x="4754563" y="5566918"/>
            <a:ext cx="61483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8" name="Google Shape;738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1">
  <p:cSld name="Title and 4-item Lists 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76"/>
          <p:cNvSpPr txBox="1"/>
          <p:nvPr>
            <p:ph type="title"/>
          </p:nvPr>
        </p:nvSpPr>
        <p:spPr>
          <a:xfrm>
            <a:off x="1123942" y="587547"/>
            <a:ext cx="101808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76"/>
          <p:cNvSpPr txBox="1"/>
          <p:nvPr>
            <p:ph idx="1" type="body"/>
          </p:nvPr>
        </p:nvSpPr>
        <p:spPr>
          <a:xfrm>
            <a:off x="1123039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1" name="Google Shape;751;p76"/>
          <p:cNvSpPr txBox="1"/>
          <p:nvPr>
            <p:ph idx="2" type="body"/>
          </p:nvPr>
        </p:nvSpPr>
        <p:spPr>
          <a:xfrm>
            <a:off x="1123038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2" name="Google Shape;752;p76"/>
          <p:cNvSpPr txBox="1"/>
          <p:nvPr>
            <p:ph idx="3" type="body"/>
          </p:nvPr>
        </p:nvSpPr>
        <p:spPr>
          <a:xfrm>
            <a:off x="6625797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3" name="Google Shape;753;p76"/>
          <p:cNvSpPr txBox="1"/>
          <p:nvPr>
            <p:ph idx="4" type="body"/>
          </p:nvPr>
        </p:nvSpPr>
        <p:spPr>
          <a:xfrm>
            <a:off x="6625796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4" name="Google Shape;754;p76"/>
          <p:cNvSpPr txBox="1"/>
          <p:nvPr>
            <p:ph idx="5" type="body"/>
          </p:nvPr>
        </p:nvSpPr>
        <p:spPr>
          <a:xfrm>
            <a:off x="1123038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5" name="Google Shape;755;p76"/>
          <p:cNvSpPr txBox="1"/>
          <p:nvPr>
            <p:ph idx="6" type="body"/>
          </p:nvPr>
        </p:nvSpPr>
        <p:spPr>
          <a:xfrm>
            <a:off x="1123037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6" name="Google Shape;756;p76"/>
          <p:cNvSpPr txBox="1"/>
          <p:nvPr>
            <p:ph idx="7" type="body"/>
          </p:nvPr>
        </p:nvSpPr>
        <p:spPr>
          <a:xfrm>
            <a:off x="6625796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7" name="Google Shape;757;p76"/>
          <p:cNvSpPr txBox="1"/>
          <p:nvPr>
            <p:ph idx="8" type="body"/>
          </p:nvPr>
        </p:nvSpPr>
        <p:spPr>
          <a:xfrm>
            <a:off x="6625795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8" name="Google Shape;758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2">
  <p:cSld name="Title and 4-item Lists 2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77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77"/>
          <p:cNvSpPr txBox="1"/>
          <p:nvPr>
            <p:ph idx="1" type="body"/>
          </p:nvPr>
        </p:nvSpPr>
        <p:spPr>
          <a:xfrm>
            <a:off x="1123039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1" name="Google Shape;771;p77"/>
          <p:cNvSpPr txBox="1"/>
          <p:nvPr>
            <p:ph idx="2" type="body"/>
          </p:nvPr>
        </p:nvSpPr>
        <p:spPr>
          <a:xfrm>
            <a:off x="1123038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2" name="Google Shape;772;p77"/>
          <p:cNvSpPr txBox="1"/>
          <p:nvPr>
            <p:ph idx="3" type="body"/>
          </p:nvPr>
        </p:nvSpPr>
        <p:spPr>
          <a:xfrm>
            <a:off x="6625797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3" name="Google Shape;773;p77"/>
          <p:cNvSpPr txBox="1"/>
          <p:nvPr>
            <p:ph idx="4" type="body"/>
          </p:nvPr>
        </p:nvSpPr>
        <p:spPr>
          <a:xfrm>
            <a:off x="6625796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4" name="Google Shape;774;p77"/>
          <p:cNvSpPr txBox="1"/>
          <p:nvPr>
            <p:ph idx="5" type="body"/>
          </p:nvPr>
        </p:nvSpPr>
        <p:spPr>
          <a:xfrm>
            <a:off x="1123038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5" name="Google Shape;775;p77"/>
          <p:cNvSpPr txBox="1"/>
          <p:nvPr>
            <p:ph idx="6" type="body"/>
          </p:nvPr>
        </p:nvSpPr>
        <p:spPr>
          <a:xfrm>
            <a:off x="1123037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6" name="Google Shape;776;p77"/>
          <p:cNvSpPr txBox="1"/>
          <p:nvPr>
            <p:ph idx="7" type="body"/>
          </p:nvPr>
        </p:nvSpPr>
        <p:spPr>
          <a:xfrm>
            <a:off x="6625796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7" name="Google Shape;777;p77"/>
          <p:cNvSpPr txBox="1"/>
          <p:nvPr>
            <p:ph idx="8" type="body"/>
          </p:nvPr>
        </p:nvSpPr>
        <p:spPr>
          <a:xfrm>
            <a:off x="6625795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8" name="Google Shape;77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0" name="Google Shape;78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3">
  <p:cSld name="Title and 4-item Lists 3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8"/>
          <p:cNvSpPr txBox="1"/>
          <p:nvPr>
            <p:ph type="title"/>
          </p:nvPr>
        </p:nvSpPr>
        <p:spPr>
          <a:xfrm>
            <a:off x="467360" y="619059"/>
            <a:ext cx="3759200" cy="559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0" name="Google Shape;790;p78"/>
          <p:cNvSpPr txBox="1"/>
          <p:nvPr>
            <p:ph idx="1" type="body"/>
          </p:nvPr>
        </p:nvSpPr>
        <p:spPr>
          <a:xfrm>
            <a:off x="4656975" y="1747304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1" name="Google Shape;791;p78"/>
          <p:cNvSpPr txBox="1"/>
          <p:nvPr>
            <p:ph idx="2" type="body"/>
          </p:nvPr>
        </p:nvSpPr>
        <p:spPr>
          <a:xfrm>
            <a:off x="4656974" y="2536735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2" name="Google Shape;792;p78"/>
          <p:cNvSpPr txBox="1"/>
          <p:nvPr>
            <p:ph idx="3" type="body"/>
          </p:nvPr>
        </p:nvSpPr>
        <p:spPr>
          <a:xfrm>
            <a:off x="8253278" y="1747304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3" name="Google Shape;793;p78"/>
          <p:cNvSpPr txBox="1"/>
          <p:nvPr>
            <p:ph idx="4" type="body"/>
          </p:nvPr>
        </p:nvSpPr>
        <p:spPr>
          <a:xfrm>
            <a:off x="8253277" y="2536735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4" name="Google Shape;794;p78"/>
          <p:cNvSpPr txBox="1"/>
          <p:nvPr>
            <p:ph idx="5" type="body"/>
          </p:nvPr>
        </p:nvSpPr>
        <p:spPr>
          <a:xfrm>
            <a:off x="4656974" y="3604871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5" name="Google Shape;795;p78"/>
          <p:cNvSpPr txBox="1"/>
          <p:nvPr>
            <p:ph idx="6" type="body"/>
          </p:nvPr>
        </p:nvSpPr>
        <p:spPr>
          <a:xfrm>
            <a:off x="4656973" y="4394302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6" name="Google Shape;796;p78"/>
          <p:cNvSpPr txBox="1"/>
          <p:nvPr>
            <p:ph idx="7" type="body"/>
          </p:nvPr>
        </p:nvSpPr>
        <p:spPr>
          <a:xfrm>
            <a:off x="8253277" y="3604871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7" name="Google Shape;797;p78"/>
          <p:cNvSpPr txBox="1"/>
          <p:nvPr>
            <p:ph idx="8" type="body"/>
          </p:nvPr>
        </p:nvSpPr>
        <p:spPr>
          <a:xfrm>
            <a:off x="8253276" y="4394302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8" name="Google Shape;79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0" name="Google Shape;80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4">
  <p:cSld name="Title and 4-item Lists 4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9"/>
          <p:cNvSpPr/>
          <p:nvPr/>
        </p:nvSpPr>
        <p:spPr>
          <a:xfrm>
            <a:off x="6147721" y="4085816"/>
            <a:ext cx="4998986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79"/>
          <p:cNvSpPr/>
          <p:nvPr/>
        </p:nvSpPr>
        <p:spPr>
          <a:xfrm>
            <a:off x="1045294" y="4085816"/>
            <a:ext cx="4998986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79"/>
          <p:cNvSpPr/>
          <p:nvPr/>
        </p:nvSpPr>
        <p:spPr>
          <a:xfrm>
            <a:off x="6147722" y="2000866"/>
            <a:ext cx="4998986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79"/>
          <p:cNvSpPr/>
          <p:nvPr/>
        </p:nvSpPr>
        <p:spPr>
          <a:xfrm>
            <a:off x="1045294" y="1998853"/>
            <a:ext cx="5002685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3" name="Google Shape;81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1229" y="3153099"/>
            <a:ext cx="813530" cy="81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147722" y="3145701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5232033" y="4084547"/>
            <a:ext cx="813530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6147722" y="4084549"/>
            <a:ext cx="824627" cy="824627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9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79"/>
          <p:cNvSpPr txBox="1"/>
          <p:nvPr>
            <p:ph idx="1" type="body"/>
          </p:nvPr>
        </p:nvSpPr>
        <p:spPr>
          <a:xfrm>
            <a:off x="1463152" y="2262701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9" name="Google Shape;819;p79"/>
          <p:cNvSpPr txBox="1"/>
          <p:nvPr>
            <p:ph idx="2" type="body"/>
          </p:nvPr>
        </p:nvSpPr>
        <p:spPr>
          <a:xfrm>
            <a:off x="1463152" y="3044865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0" name="Google Shape;820;p79"/>
          <p:cNvSpPr txBox="1"/>
          <p:nvPr>
            <p:ph idx="3" type="body"/>
          </p:nvPr>
        </p:nvSpPr>
        <p:spPr>
          <a:xfrm>
            <a:off x="1463152" y="4349214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1" name="Google Shape;821;p79"/>
          <p:cNvSpPr txBox="1"/>
          <p:nvPr>
            <p:ph idx="4" type="body"/>
          </p:nvPr>
        </p:nvSpPr>
        <p:spPr>
          <a:xfrm>
            <a:off x="1463152" y="5131378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2" name="Google Shape;822;p79"/>
          <p:cNvSpPr txBox="1"/>
          <p:nvPr>
            <p:ph idx="5" type="body"/>
          </p:nvPr>
        </p:nvSpPr>
        <p:spPr>
          <a:xfrm>
            <a:off x="8100483" y="2262701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3" name="Google Shape;823;p79"/>
          <p:cNvSpPr txBox="1"/>
          <p:nvPr>
            <p:ph idx="6" type="body"/>
          </p:nvPr>
        </p:nvSpPr>
        <p:spPr>
          <a:xfrm>
            <a:off x="8100483" y="3044865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4" name="Google Shape;824;p79"/>
          <p:cNvSpPr txBox="1"/>
          <p:nvPr>
            <p:ph idx="7" type="body"/>
          </p:nvPr>
        </p:nvSpPr>
        <p:spPr>
          <a:xfrm>
            <a:off x="8100483" y="4349214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5" name="Google Shape;825;p79"/>
          <p:cNvSpPr txBox="1"/>
          <p:nvPr>
            <p:ph idx="8" type="body"/>
          </p:nvPr>
        </p:nvSpPr>
        <p:spPr>
          <a:xfrm>
            <a:off x="8100483" y="5131378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6" name="Google Shape;826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-item Lists 1">
  <p:cSld name="Title and 6-item Lists 1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80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80"/>
          <p:cNvSpPr txBox="1"/>
          <p:nvPr>
            <p:ph idx="1" type="body"/>
          </p:nvPr>
        </p:nvSpPr>
        <p:spPr>
          <a:xfrm>
            <a:off x="2782115" y="1796213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9" name="Google Shape;839;p80"/>
          <p:cNvSpPr txBox="1"/>
          <p:nvPr>
            <p:ph idx="2" type="body"/>
          </p:nvPr>
        </p:nvSpPr>
        <p:spPr>
          <a:xfrm>
            <a:off x="2782114" y="2585644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0" name="Google Shape;840;p80"/>
          <p:cNvSpPr txBox="1"/>
          <p:nvPr>
            <p:ph idx="3" type="body"/>
          </p:nvPr>
        </p:nvSpPr>
        <p:spPr>
          <a:xfrm>
            <a:off x="6766042" y="1796213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1" name="Google Shape;841;p80"/>
          <p:cNvSpPr txBox="1"/>
          <p:nvPr>
            <p:ph idx="4" type="body"/>
          </p:nvPr>
        </p:nvSpPr>
        <p:spPr>
          <a:xfrm>
            <a:off x="6766041" y="2585644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2" name="Google Shape;842;p80"/>
          <p:cNvSpPr txBox="1"/>
          <p:nvPr>
            <p:ph idx="5" type="body"/>
          </p:nvPr>
        </p:nvSpPr>
        <p:spPr>
          <a:xfrm>
            <a:off x="2782114" y="3344212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3" name="Google Shape;843;p80"/>
          <p:cNvSpPr txBox="1"/>
          <p:nvPr>
            <p:ph idx="6" type="body"/>
          </p:nvPr>
        </p:nvSpPr>
        <p:spPr>
          <a:xfrm>
            <a:off x="2782113" y="4133643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4" name="Google Shape;844;p80"/>
          <p:cNvSpPr txBox="1"/>
          <p:nvPr>
            <p:ph idx="7" type="body"/>
          </p:nvPr>
        </p:nvSpPr>
        <p:spPr>
          <a:xfrm>
            <a:off x="6766041" y="3344212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5" name="Google Shape;845;p80"/>
          <p:cNvSpPr txBox="1"/>
          <p:nvPr>
            <p:ph idx="8" type="body"/>
          </p:nvPr>
        </p:nvSpPr>
        <p:spPr>
          <a:xfrm>
            <a:off x="6766040" y="4133643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6" name="Google Shape;846;p80"/>
          <p:cNvSpPr txBox="1"/>
          <p:nvPr>
            <p:ph idx="9" type="body"/>
          </p:nvPr>
        </p:nvSpPr>
        <p:spPr>
          <a:xfrm>
            <a:off x="2782113" y="4896040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7" name="Google Shape;847;p80"/>
          <p:cNvSpPr txBox="1"/>
          <p:nvPr>
            <p:ph idx="13" type="body"/>
          </p:nvPr>
        </p:nvSpPr>
        <p:spPr>
          <a:xfrm>
            <a:off x="2782112" y="5685471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8" name="Google Shape;848;p80"/>
          <p:cNvSpPr txBox="1"/>
          <p:nvPr>
            <p:ph idx="14" type="body"/>
          </p:nvPr>
        </p:nvSpPr>
        <p:spPr>
          <a:xfrm>
            <a:off x="6766040" y="4896040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9" name="Google Shape;849;p80"/>
          <p:cNvSpPr txBox="1"/>
          <p:nvPr>
            <p:ph idx="15" type="body"/>
          </p:nvPr>
        </p:nvSpPr>
        <p:spPr>
          <a:xfrm>
            <a:off x="6766039" y="5685471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0" name="Google Shape;850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1" name="Google Shape;851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2" name="Google Shape;852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-item Lists 2">
  <p:cSld name="Title and 6-item Lists 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1"/>
          <p:cNvSpPr txBox="1"/>
          <p:nvPr>
            <p:ph type="title"/>
          </p:nvPr>
        </p:nvSpPr>
        <p:spPr>
          <a:xfrm>
            <a:off x="1123942" y="587547"/>
            <a:ext cx="101808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81"/>
          <p:cNvSpPr txBox="1"/>
          <p:nvPr>
            <p:ph idx="1" type="body"/>
          </p:nvPr>
        </p:nvSpPr>
        <p:spPr>
          <a:xfrm>
            <a:off x="1123942" y="2406323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3" name="Google Shape;863;p81"/>
          <p:cNvSpPr txBox="1"/>
          <p:nvPr>
            <p:ph idx="2" type="body"/>
          </p:nvPr>
        </p:nvSpPr>
        <p:spPr>
          <a:xfrm>
            <a:off x="1123941" y="3195754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4" name="Google Shape;864;p81"/>
          <p:cNvSpPr txBox="1"/>
          <p:nvPr>
            <p:ph idx="3" type="body"/>
          </p:nvPr>
        </p:nvSpPr>
        <p:spPr>
          <a:xfrm>
            <a:off x="4720245" y="2406323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5" name="Google Shape;865;p81"/>
          <p:cNvSpPr txBox="1"/>
          <p:nvPr>
            <p:ph idx="4" type="body"/>
          </p:nvPr>
        </p:nvSpPr>
        <p:spPr>
          <a:xfrm>
            <a:off x="4720244" y="3195754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6" name="Google Shape;866;p81"/>
          <p:cNvSpPr txBox="1"/>
          <p:nvPr>
            <p:ph idx="5" type="body"/>
          </p:nvPr>
        </p:nvSpPr>
        <p:spPr>
          <a:xfrm>
            <a:off x="8316548" y="2408577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7" name="Google Shape;867;p81"/>
          <p:cNvSpPr txBox="1"/>
          <p:nvPr>
            <p:ph idx="6" type="body"/>
          </p:nvPr>
        </p:nvSpPr>
        <p:spPr>
          <a:xfrm>
            <a:off x="8316547" y="3198008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8" name="Google Shape;868;p81"/>
          <p:cNvSpPr txBox="1"/>
          <p:nvPr>
            <p:ph idx="7" type="body"/>
          </p:nvPr>
        </p:nvSpPr>
        <p:spPr>
          <a:xfrm>
            <a:off x="1123941" y="4263890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9" name="Google Shape;869;p81"/>
          <p:cNvSpPr txBox="1"/>
          <p:nvPr>
            <p:ph idx="8" type="body"/>
          </p:nvPr>
        </p:nvSpPr>
        <p:spPr>
          <a:xfrm>
            <a:off x="1123940" y="5053321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0" name="Google Shape;870;p81"/>
          <p:cNvSpPr txBox="1"/>
          <p:nvPr>
            <p:ph idx="9" type="body"/>
          </p:nvPr>
        </p:nvSpPr>
        <p:spPr>
          <a:xfrm>
            <a:off x="4720244" y="4263890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1" name="Google Shape;871;p81"/>
          <p:cNvSpPr txBox="1"/>
          <p:nvPr>
            <p:ph idx="13" type="body"/>
          </p:nvPr>
        </p:nvSpPr>
        <p:spPr>
          <a:xfrm>
            <a:off x="4720243" y="5053321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2" name="Google Shape;872;p81"/>
          <p:cNvSpPr txBox="1"/>
          <p:nvPr>
            <p:ph idx="14" type="body"/>
          </p:nvPr>
        </p:nvSpPr>
        <p:spPr>
          <a:xfrm>
            <a:off x="8316547" y="4266144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3" name="Google Shape;873;p81"/>
          <p:cNvSpPr txBox="1"/>
          <p:nvPr>
            <p:ph idx="15" type="body"/>
          </p:nvPr>
        </p:nvSpPr>
        <p:spPr>
          <a:xfrm>
            <a:off x="8316546" y="5055575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4" name="Google Shape;874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 txBox="1"/>
          <p:nvPr>
            <p:ph type="title"/>
          </p:nvPr>
        </p:nvSpPr>
        <p:spPr>
          <a:xfrm>
            <a:off x="844000" y="831919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3" name="Google Shape;883;p83"/>
          <p:cNvSpPr txBox="1"/>
          <p:nvPr>
            <p:ph idx="1" type="body"/>
          </p:nvPr>
        </p:nvSpPr>
        <p:spPr>
          <a:xfrm>
            <a:off x="844000" y="2724912"/>
            <a:ext cx="3595634" cy="33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4" name="Google Shape;884;p83"/>
          <p:cNvSpPr txBox="1"/>
          <p:nvPr>
            <p:ph idx="2" type="body"/>
          </p:nvPr>
        </p:nvSpPr>
        <p:spPr>
          <a:xfrm>
            <a:off x="4907742" y="831919"/>
            <a:ext cx="6440258" cy="5194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5" name="Google Shape;885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6" name="Google Shape;886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88" name="Google Shape;888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84"/>
          <p:cNvSpPr txBox="1"/>
          <p:nvPr>
            <p:ph type="title"/>
          </p:nvPr>
        </p:nvSpPr>
        <p:spPr>
          <a:xfrm>
            <a:off x="844000" y="831919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7" name="Google Shape;897;p84"/>
          <p:cNvSpPr txBox="1"/>
          <p:nvPr>
            <p:ph idx="1" type="body"/>
          </p:nvPr>
        </p:nvSpPr>
        <p:spPr>
          <a:xfrm>
            <a:off x="849024" y="3260034"/>
            <a:ext cx="3585586" cy="27660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8" name="Google Shape;898;p84"/>
          <p:cNvSpPr/>
          <p:nvPr>
            <p:ph idx="2" type="pic"/>
          </p:nvPr>
        </p:nvSpPr>
        <p:spPr>
          <a:xfrm>
            <a:off x="5063319" y="831919"/>
            <a:ext cx="6284681" cy="5194161"/>
          </a:xfrm>
          <a:prstGeom prst="rect">
            <a:avLst/>
          </a:prstGeom>
          <a:noFill/>
          <a:ln>
            <a:noFill/>
          </a:ln>
        </p:spPr>
      </p:sp>
      <p:sp>
        <p:nvSpPr>
          <p:cNvPr id="899" name="Google Shape;899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1" name="Google Shape;901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02" name="Google Shape;902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1">
  <p:cSld name="Conclusion 1">
    <p:bg>
      <p:bgPr>
        <a:solidFill>
          <a:schemeClr val="lt1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5"/>
          <p:cNvSpPr txBox="1"/>
          <p:nvPr>
            <p:ph type="title"/>
          </p:nvPr>
        </p:nvSpPr>
        <p:spPr>
          <a:xfrm>
            <a:off x="847175" y="831919"/>
            <a:ext cx="7342307" cy="17912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 SemiBold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85"/>
          <p:cNvSpPr txBox="1"/>
          <p:nvPr>
            <p:ph idx="1" type="body"/>
          </p:nvPr>
        </p:nvSpPr>
        <p:spPr>
          <a:xfrm>
            <a:off x="860427" y="3280496"/>
            <a:ext cx="10504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2" name="Google Shape;912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15" name="Google Shape;915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lt1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6"/>
          <p:cNvSpPr txBox="1"/>
          <p:nvPr>
            <p:ph type="title"/>
          </p:nvPr>
        </p:nvSpPr>
        <p:spPr>
          <a:xfrm>
            <a:off x="844000" y="1627318"/>
            <a:ext cx="843076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 SemiBold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4" name="Google Shape;924;p86"/>
          <p:cNvSpPr txBox="1"/>
          <p:nvPr>
            <p:ph idx="1" type="body"/>
          </p:nvPr>
        </p:nvSpPr>
        <p:spPr>
          <a:xfrm>
            <a:off x="844128" y="3622674"/>
            <a:ext cx="8430639" cy="12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5" name="Google Shape;925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6" name="Google Shape;926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8" name="Google Shape;928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lt2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0946087" y="442969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442969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4261" y="442969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454261" y="3184370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0946087" y="3184370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4739" y="1936953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9697478" y="1936953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9697477" y="1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9695" y="4425260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7"/>
          <p:cNvSpPr txBox="1"/>
          <p:nvPr>
            <p:ph type="title"/>
          </p:nvPr>
        </p:nvSpPr>
        <p:spPr>
          <a:xfrm>
            <a:off x="838200" y="876300"/>
            <a:ext cx="53721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6" name="Google Shape;946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Poppins SemiBold"/>
              <a:buNone/>
              <a:defRPr b="0" i="0" sz="4400" u="none" cap="none" strike="noStrik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oogle.com/search?q=Existe+algo+que+mede+o+total+de+transa%C3%A7%C3%B5es+feitas+por+determinada+empresa+nas+FIDCs+e+mostra+isso+ao+%C3%BAblico%3F&amp;sca_esv=81bd514f0afe5427&amp;rlz=1C1GCEA_enBR1139BR1139&amp;sxsrf=AE3TifOsL9pz_w5eLr4lz-n6rT9qFpeQEA%3A1764543024230&amp;udm=50&amp;fbs=AIIjpHydJdUtNKrM02hj0s4nbm4yAFb4PvhjIUcDtaFHkK_typjV8YxnV4H5ziV0FW8U8-07g4l1fy73HMQvo1CPT00m5j2putsbhULIeHFYTxgpu33oHsJ6R6jDD52Woko_LW8AVKNbCzcSNtoykfH4SR6OhxXNlJmuKrUXTIKniN27GYHdyKlkLEn9AYeQ_MJOw9-IYtDOkZn84g5Edas11ZeIUjWg6g&amp;aep=1&amp;ntc=1&amp;sa=X&amp;ved=2ahUKEwjvupmB-5qRAxW_lJUCHXVkGdoQ2J8OegQIDxAE&amp;biw=1536&amp;bih=695&amp;dpr=1.25&amp;mstk=AUtExfC7xM0gVWI6LSwyDcjxd4gJZNxfwcye0lpM2ESmOXv8p70mNSLNQmP_cNjGG2JhbP_64dCkkhn12KHqJFOv1CrxFdvDVAGrn0hKhjuFJTYWlVCBPs1srGaGA2SVRM7MgPGdsiVkTMKapvi5WelGNZlYdQmRCFEVHRV-xR8MVMUFTkqeRospS4dkwZoAOiRtTIN4aT91gx4KvYKIl-Un3Wr6l4wwIZkEvuykVU7EmzRMdmDzOhYc-CoNfKXwcduVGUDc-6FEGaq_CxXjVNxaVoSKVbTaQqIhY8eeD3j10UzpGR8rpZY-A6P9_ohp2oPBvxMLRJ_vyF4IzQ&amp;csuir=1&amp;mtid=MsosaffsM8iJ1sQPtfjRmQ8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ce gráfica do usuário, Aplicativo&#10;&#10;Descrição gerada automaticamente" id="954" name="Google Shape;954;p1"/>
          <p:cNvPicPr preferRelativeResize="0"/>
          <p:nvPr/>
        </p:nvPicPr>
        <p:blipFill rotWithShape="1">
          <a:blip r:embed="rId3">
            <a:alphaModFix/>
          </a:blip>
          <a:srcRect b="-1" l="426" r="-1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"/>
          <p:cNvSpPr txBox="1"/>
          <p:nvPr>
            <p:ph idx="1" type="subTitle"/>
          </p:nvPr>
        </p:nvSpPr>
        <p:spPr>
          <a:xfrm>
            <a:off x="1041510" y="1303187"/>
            <a:ext cx="11019672" cy="4341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solidFill>
                  <a:schemeClr val="dk1"/>
                </a:solidFill>
              </a:rPr>
              <a:t>Nome da Equipe: </a:t>
            </a:r>
            <a:r>
              <a:rPr lang="pt-BR" sz="2000">
                <a:solidFill>
                  <a:schemeClr val="dk1"/>
                </a:solidFill>
              </a:rPr>
              <a:t>GRW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solidFill>
                  <a:schemeClr val="dk1"/>
                </a:solidFill>
              </a:rPr>
              <a:t>Nome dos componentes e RM: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60" name="Google Shape;9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4397" y="2913070"/>
            <a:ext cx="4843205" cy="30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d8281e9df8_1_32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D37811"/>
                </a:solidFill>
                <a:latin typeface="Poppins"/>
                <a:ea typeface="Poppins"/>
                <a:cs typeface="Poppins"/>
                <a:sym typeface="Poppins"/>
              </a:rPr>
              <a:t>NOME DA SOLUÇÃO/PROJETO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Aplicativo&#10;&#10;Descrição gerada automaticamente" id="971" name="Google Shape;9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0460" y="1172861"/>
            <a:ext cx="5289291" cy="5289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"/>
          <p:cNvSpPr txBox="1"/>
          <p:nvPr/>
        </p:nvSpPr>
        <p:spPr>
          <a:xfrm>
            <a:off x="937069" y="1946423"/>
            <a:ext cx="10317862" cy="2965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b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problema que escolhemos resolver é a falta de informações que os investidores têm na hora de decidir quais empresas</a:t>
            </a:r>
            <a:r>
              <a:rPr lang="pt-BR" sz="1800"/>
              <a:t>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irão escolher para investir seu dinheiro no mercado d</a:t>
            </a:r>
            <a:r>
              <a:rPr lang="pt-BR" sz="1800"/>
              <a:t>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FIDCs.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b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hora de investir seu dinheiro, muitos investidores podem acabar perdendo tempo filtrando as melhores opções </a:t>
            </a:r>
            <a:r>
              <a:rPr lang="pt-BR" sz="1800"/>
              <a:t>ao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escolher os FIDCs mais </a:t>
            </a:r>
            <a:r>
              <a:rPr lang="pt-BR" sz="1800"/>
              <a:t>vantajosos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falta de uma ferramenta específica para isso acaba tornando as decisões mais lentas e pouco eficientes.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br>
              <a:rPr b="0" i="0" lang="pt-BR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7" name="Google Shape;977;p4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CONTEXTUALIZAÇÃO DO PROBLEMA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"/>
          <p:cNvSpPr txBox="1"/>
          <p:nvPr/>
        </p:nvSpPr>
        <p:spPr>
          <a:xfrm>
            <a:off x="942666" y="2390293"/>
            <a:ext cx="10392083" cy="2861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problemas a serem resolvidos são: 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b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relação aos investidores: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Perda de tempo na hora de filtrar e pesquisar sobre 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Ineficiência nas decisões sobre os investimento nos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relação ao mercado de FIDCs como um todo: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Falta de incentivo ao desenvolvimento do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33CC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3" name="Google Shape;983;p5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PROBLEMA A SER RESOLVIDO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"/>
          <p:cNvSpPr txBox="1"/>
          <p:nvPr/>
        </p:nvSpPr>
        <p:spPr>
          <a:xfrm>
            <a:off x="1331687" y="2121278"/>
            <a:ext cx="9528626" cy="1336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nosso principal público-alvo são os investidores do mercado de FIDCs.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deles, a própria Núclea e suas empresas parceiras poderão se beneficiar da AURA.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pt-BR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9" name="Google Shape;989;p6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PÚBLICO-ALVO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Forma&#10;&#10;Descrição gerada automaticamente com confiança média" id="990" name="Google Shape;9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0803" y="3769568"/>
            <a:ext cx="5137989" cy="1876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991" name="Google Shape;9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9033" y="3593775"/>
            <a:ext cx="2228156" cy="2228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"/>
          <p:cNvSpPr txBox="1"/>
          <p:nvPr/>
        </p:nvSpPr>
        <p:spPr>
          <a:xfrm>
            <a:off x="836882" y="3921463"/>
            <a:ext cx="10164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proposta será criar um site e/ou um aplicativo que exiba, como parte principal, um termômetro por empresa participante do projeto, dentro da plataforma, indicando o grau de temperatura dessas empresas (parceiras da Núclea) que vendem no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O termômetro irá indicar se uma empresa está quente ou fria no período, o que indica que a mesma está negociando muitas FIDCs no momento (quente) ou está negociando poucas (fria).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 plataforma contará também com um dashboard contendo as principais informações das FIDCs daquela empresa em especifico, comparando com o restante do mercado.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Dentro do site, o usuário (investidores de FIDCs) poderá filtrar as empresas e conferir investimentos recomendados. </a:t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7" name="Google Shape;9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850" y="2391872"/>
            <a:ext cx="720000" cy="7200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12700">
              <a:schemeClr val="dk1">
                <a:alpha val="21176"/>
              </a:schemeClr>
            </a:outerShdw>
          </a:effectLst>
        </p:spPr>
      </p:pic>
      <p:grpSp>
        <p:nvGrpSpPr>
          <p:cNvPr id="998" name="Google Shape;998;p7"/>
          <p:cNvGrpSpPr/>
          <p:nvPr/>
        </p:nvGrpSpPr>
        <p:grpSpPr>
          <a:xfrm>
            <a:off x="826038" y="2121872"/>
            <a:ext cx="1260000" cy="1260000"/>
            <a:chOff x="7349505" y="606851"/>
            <a:chExt cx="1211126" cy="1211126"/>
          </a:xfrm>
        </p:grpSpPr>
        <p:sp>
          <p:nvSpPr>
            <p:cNvPr id="999" name="Google Shape;999;p7"/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77800" rotWithShape="0" algn="tl" dir="2700000" dist="114300">
                <a:schemeClr val="lt1">
                  <a:alpha val="4196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0" name="Google Shape;1000;p7"/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14300" rotWithShape="0" algn="br" dir="13500000" dist="114300">
                <a:schemeClr val="lt2">
                  <a:alpha val="56078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01" name="Google Shape;1001;p7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2" name="Google Shape;1002;p7"/>
          <p:cNvSpPr txBox="1"/>
          <p:nvPr/>
        </p:nvSpPr>
        <p:spPr>
          <a:xfrm>
            <a:off x="2218111" y="2567206"/>
            <a:ext cx="86010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8" name="Google Shape;1008;p8"/>
          <p:cNvSpPr txBox="1"/>
          <p:nvPr/>
        </p:nvSpPr>
        <p:spPr>
          <a:xfrm>
            <a:off x="990600" y="2607881"/>
            <a:ext cx="108882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Diversos fatores podem influenciar a temperatura das empresas, como por exemplo: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Quantas negociações a empresa realizou no mercado de FIDCs em determinado período.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quantidade de FIDCs ofertadas.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avaliação por parte dos investidores sobre essas negociações.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relacionamento e suporte que a empresa apresenta a seus clientes de FIDC.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qualidade das FIDCs ofertadas, avaliadas por meio dos histórico de recebimento, fraudes, porcentagem de recebimento das contas a receber,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Dentre outros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forma geral, quanto mais quente a empresa </a:t>
            </a:r>
            <a:r>
              <a:rPr b="1" lang="pt-BR">
                <a:solidFill>
                  <a:schemeClr val="dk1"/>
                </a:solidFill>
              </a:rPr>
              <a:t>estiver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melhor </a:t>
            </a:r>
            <a:r>
              <a:rPr b="1" lang="pt-BR">
                <a:solidFill>
                  <a:schemeClr val="dk1"/>
                </a:solidFill>
              </a:rPr>
              <a:t>será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investimento</a:t>
            </a:r>
            <a:r>
              <a:rPr b="1" lang="pt-BR">
                <a:solidFill>
                  <a:schemeClr val="dk1"/>
                </a:solidFill>
              </a:rPr>
              <a:t>. E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quanto mais fria, pior.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temperatura das empresas irá mudar a todo momento, com as análises podendo ser feitas de forma mensal, semanal, diária ou até mesmo em tempo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empresa que está quente em uma semana, pode estar fria na outra.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b="0" i="0" sz="14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8"/>
          <p:cNvSpPr txBox="1"/>
          <p:nvPr/>
        </p:nvSpPr>
        <p:spPr>
          <a:xfrm>
            <a:off x="990600" y="1920446"/>
            <a:ext cx="79235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Explicação: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5" name="Google Shape;1015;p9"/>
          <p:cNvSpPr txBox="1"/>
          <p:nvPr/>
        </p:nvSpPr>
        <p:spPr>
          <a:xfrm>
            <a:off x="1012568" y="2090856"/>
            <a:ext cx="10125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Coleta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 coleta de dados será </a:t>
            </a:r>
            <a:r>
              <a:rPr lang="pt-BR">
                <a:solidFill>
                  <a:srgbClr val="0C0C0C"/>
                </a:solidFill>
              </a:rPr>
              <a:t>realizada </a:t>
            </a: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através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Agentes de IA que coletarão os dados em tempo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OBS: </a:t>
            </a: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Essa implementação será feita individualmente por empresa, com o consentimento da mesma em participar da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Reuniões com representantes das empresas, juntamente com a Núclea.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Dentre outros meios.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0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1" name="Google Shape;1021;p10"/>
          <p:cNvSpPr txBox="1"/>
          <p:nvPr/>
        </p:nvSpPr>
        <p:spPr>
          <a:xfrm>
            <a:off x="1000125" y="2139521"/>
            <a:ext cx="79140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Segurança e LGPD: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2" name="Google Shape;1022;p10"/>
          <p:cNvSpPr txBox="1"/>
          <p:nvPr/>
        </p:nvSpPr>
        <p:spPr>
          <a:xfrm>
            <a:off x="1000125" y="3093656"/>
            <a:ext cx="1035367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disponibilizados em gráficos e dashboards serão apenas os já divulgados pela empresa e/ou que respeitem a LGPD.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Outros dados poderão ser usados para influenciar o comportamento do termômetro, eles não serão divulgados de forma explícita e terão consentimento da empresa e das pessoas que o possuem para serem usados.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1"/>
          <p:cNvSpPr txBox="1"/>
          <p:nvPr/>
        </p:nvSpPr>
        <p:spPr>
          <a:xfrm>
            <a:off x="1026207" y="1736229"/>
            <a:ext cx="10097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D37811"/>
                </a:solidFill>
                <a:latin typeface="Arial"/>
                <a:ea typeface="Arial"/>
                <a:cs typeface="Arial"/>
                <a:sym typeface="Arial"/>
              </a:rPr>
              <a:t>Os impactos esperados são: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pt-BR" sz="18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relação aos investidores: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Otimização de tempo </a:t>
            </a:r>
            <a:r>
              <a:rPr lang="pt-BR" sz="1800">
                <a:solidFill>
                  <a:schemeClr val="dk1"/>
                </a:solidFill>
              </a:rPr>
              <a:t>ao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e pesquisar </a:t>
            </a:r>
            <a:r>
              <a:rPr lang="pt-BR" sz="1800">
                <a:solidFill>
                  <a:schemeClr val="dk1"/>
                </a:solidFill>
              </a:rPr>
              <a:t>n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eficiência nas decisões de investimento nos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relação ao mercado de FIDCs como um todo: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Fomento expressivo do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11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IMPACTOS DA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"/>
          <p:cNvSpPr/>
          <p:nvPr/>
        </p:nvSpPr>
        <p:spPr>
          <a:xfrm>
            <a:off x="2028825" y="1562531"/>
            <a:ext cx="3799694" cy="2361769"/>
          </a:xfrm>
          <a:custGeom>
            <a:rect b="b" l="l" r="r" t="t"/>
            <a:pathLst>
              <a:path extrusionOk="0" h="354" w="27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cap="rnd" cmpd="sng" w="11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chemeClr val="accent5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12"/>
          <p:cNvSpPr/>
          <p:nvPr/>
        </p:nvSpPr>
        <p:spPr>
          <a:xfrm>
            <a:off x="6231734" y="1562531"/>
            <a:ext cx="3824462" cy="2285569"/>
          </a:xfrm>
          <a:custGeom>
            <a:rect b="b" l="l" r="r" t="t"/>
            <a:pathLst>
              <a:path extrusionOk="0" h="354" w="27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cap="rnd" cmpd="sng" w="11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chemeClr val="accent5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12"/>
          <p:cNvSpPr txBox="1"/>
          <p:nvPr/>
        </p:nvSpPr>
        <p:spPr>
          <a:xfrm>
            <a:off x="603765" y="4385998"/>
            <a:ext cx="3146620" cy="9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Investidores mais confiantes, preparados e motivados a investir em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2"/>
          <p:cNvSpPr txBox="1"/>
          <p:nvPr/>
        </p:nvSpPr>
        <p:spPr>
          <a:xfrm>
            <a:off x="1918671" y="4016666"/>
            <a:ext cx="2584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2"/>
          <p:cNvSpPr txBox="1"/>
          <p:nvPr/>
        </p:nvSpPr>
        <p:spPr>
          <a:xfrm>
            <a:off x="9895735" y="3997729"/>
            <a:ext cx="320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2"/>
          <p:cNvSpPr/>
          <p:nvPr/>
        </p:nvSpPr>
        <p:spPr>
          <a:xfrm>
            <a:off x="6025096" y="1562531"/>
            <a:ext cx="70904" cy="2285569"/>
          </a:xfrm>
          <a:custGeom>
            <a:rect b="b" l="l" r="r" t="t"/>
            <a:pathLst>
              <a:path extrusionOk="0" h="354" w="27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cap="rnd" cmpd="sng" w="11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chemeClr val="accent5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12"/>
          <p:cNvSpPr txBox="1"/>
          <p:nvPr/>
        </p:nvSpPr>
        <p:spPr>
          <a:xfrm>
            <a:off x="5958403" y="3997729"/>
            <a:ext cx="2584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2"/>
          <p:cNvSpPr txBox="1"/>
          <p:nvPr/>
        </p:nvSpPr>
        <p:spPr>
          <a:xfrm>
            <a:off x="8143965" y="4376637"/>
            <a:ext cx="372910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Um mercado de FIDCs mais desenvolvido, com maior interesse da sociedade em fomenta-lo.</a:t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2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BENEFÍCIOS ESPERADOS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2" name="Google Shape;1042;p12"/>
          <p:cNvSpPr txBox="1"/>
          <p:nvPr/>
        </p:nvSpPr>
        <p:spPr>
          <a:xfrm>
            <a:off x="4864112" y="4385998"/>
            <a:ext cx="27352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Mais empresas entrando no mercado de FIDCs.</a:t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3"/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COMPARATIVO COM A CONCORRÊNCIA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8" name="Google Shape;1048;p13"/>
          <p:cNvSpPr txBox="1"/>
          <p:nvPr/>
        </p:nvSpPr>
        <p:spPr>
          <a:xfrm>
            <a:off x="573958" y="1859339"/>
            <a:ext cx="11002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Segundo o Google Gemini: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 existe uma ferramenta pública única que meça o </a:t>
            </a:r>
            <a:r>
              <a:rPr b="1" i="0" lang="pt-BR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total de transações individuais</a:t>
            </a:r>
            <a:r>
              <a:rPr b="0" i="0" lang="pt-BR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 feitas por uma empresa específica em Fundos de Investimento em Direitos Creditórios (FIDCs) e divulgue esses números detalhados ao público em geral.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isso, a Núclea seria pioneira em mostrar como andam os FIDCs de forma individual para cada empresa que atua no mercado. Tendo tudo em um só lugar.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d8281e9df8_1_22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4"/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Diagrama" id="1060" name="Google Shape;106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339" y="1277083"/>
            <a:ext cx="7223533" cy="5129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14"/>
          <p:cNvSpPr txBox="1"/>
          <p:nvPr/>
        </p:nvSpPr>
        <p:spPr>
          <a:xfrm>
            <a:off x="4016991" y="3244593"/>
            <a:ext cx="8467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Agente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5"/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7" name="Google Shape;1067;p15"/>
          <p:cNvSpPr txBox="1"/>
          <p:nvPr/>
        </p:nvSpPr>
        <p:spPr>
          <a:xfrm>
            <a:off x="925885" y="1377281"/>
            <a:ext cx="101250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Legenda: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8" name="Google Shape;1068;p15"/>
          <p:cNvGraphicFramePr/>
          <p:nvPr/>
        </p:nvGraphicFramePr>
        <p:xfrm>
          <a:off x="1795927" y="19665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{34E5F564-A7F1-4FA2-8334-4BBE50239D53}</a:tableStyleId>
              </a:tblPr>
              <a:tblGrid>
                <a:gridCol w="1446300"/>
                <a:gridCol w="6938675"/>
              </a:tblGrid>
              <a:tr h="6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Números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Função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1 e 2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u="none" cap="none" strike="noStrike"/>
                        <a:t>Excel e CSV: </a:t>
                      </a:r>
                      <a:r>
                        <a:rPr lang="pt-BR" u="none" cap="none" strike="noStrike"/>
                        <a:t>base de dados.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51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3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u="none" cap="none" strike="noStrike"/>
                        <a:t>Oracle Database: </a:t>
                      </a:r>
                      <a:r>
                        <a:rPr lang="pt-BR" u="none" cap="none" strike="noStrike"/>
                        <a:t>armazenamento de dados.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4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u="none" cap="none" strike="noStrike"/>
                        <a:t>Power BI: </a:t>
                      </a:r>
                      <a:r>
                        <a:rPr lang="pt-BR" u="none" cap="none" strike="noStrike"/>
                        <a:t>desenvolvimento dos dashboards.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68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5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u="none" cap="none" strike="noStrike"/>
                        <a:t>Linguagens de programação: </a:t>
                      </a:r>
                      <a:r>
                        <a:rPr lang="pt-BR" u="none" cap="none" strike="noStrike"/>
                        <a:t>desenvolvimento da plataforma e programação do comportamento dos agentes de IA.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6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Poppins"/>
                        <a:buNone/>
                      </a:pPr>
                      <a:r>
                        <a:rPr b="1" lang="pt-BR" u="none" cap="none" strike="noStrike"/>
                        <a:t>Dashboards: </a:t>
                      </a:r>
                      <a:r>
                        <a:rPr lang="pt-BR" u="none" cap="none" strike="noStrike"/>
                        <a:t>exibição das métricas e do termômetro.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7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u="none" cap="none" strike="noStrike"/>
                        <a:t>Site: </a:t>
                      </a:r>
                      <a:r>
                        <a:rPr lang="pt-BR" u="none" cap="none" strike="noStrike"/>
                        <a:t>hospedará o projeto.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8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u="none" cap="none" strike="noStrike"/>
                        <a:t>Usuários da plataforma: </a:t>
                      </a:r>
                      <a:r>
                        <a:rPr lang="pt-BR" u="none" cap="none" strike="noStrike"/>
                        <a:t>Investidores e outros.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6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TECNOLOGIAS UTILIZADAS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074" name="Google Shape;1074;p16"/>
          <p:cNvGraphicFramePr/>
          <p:nvPr/>
        </p:nvGraphicFramePr>
        <p:xfrm>
          <a:off x="1190966" y="13632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{34E5F564-A7F1-4FA2-8334-4BBE50239D53}</a:tableStyleId>
              </a:tblPr>
              <a:tblGrid>
                <a:gridCol w="2361850"/>
                <a:gridCol w="7620350"/>
              </a:tblGrid>
              <a:tr h="77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Tecnologias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Descriç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ões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99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 Excel e os arquivos CSV nos ajudaram a estruturar as bases de dados coletadas.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Usaremos linguagens de programação como Python e/ou Java para programar o comportamento do nosso agente de IA que irá coletar esses dados.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 a ajuda do React e as outras linguagens já citadas, vamos desenvolver a plataforma e sua interface.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inteligência artificial será muito útil na coleta de dados, em dar suporte aos usuários na plataforma e em ajudar os desenvolvedores a descobrir e corrigir erros.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78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 Power Bi seria usado para criar a exibição dos termômetros e o que mais for exibido na plataforma, como gráficos e dashboards.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descr="Ícone&#10;&#10;Descrição gerada automaticamente" id="1075" name="Google Shape;10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6713" y="2420177"/>
            <a:ext cx="564085" cy="525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76" name="Google Shape;10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1448" y="4451147"/>
            <a:ext cx="885308" cy="88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77" name="Google Shape;10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5620" y="3414326"/>
            <a:ext cx="564085" cy="564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78" name="Google Shape;107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4198" y="3414326"/>
            <a:ext cx="637911" cy="567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média" id="1079" name="Google Shape;107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36603" y="3193505"/>
            <a:ext cx="448562" cy="822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80" name="Google Shape;108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1770" y="2450685"/>
            <a:ext cx="509434" cy="509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081" name="Google Shape;108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01589" y="5456880"/>
            <a:ext cx="1805025" cy="101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8"/>
          <p:cNvSpPr txBox="1"/>
          <p:nvPr/>
        </p:nvSpPr>
        <p:spPr>
          <a:xfrm>
            <a:off x="1166327" y="1735500"/>
            <a:ext cx="10487608" cy="4301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Explicação do Protótipo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tela, iremos mostrar o(s) dashboard(S) com as informações e gráficos da empresa, juntamente com o seu termômetro 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direita - indicando sua temperatura.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Além disso, a interface irá contar com uma inteligência artificial que irá auxiliar o usuário com possíveis dúvidas, permitindo a eles também reportar possíveis erros da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Pesquisa e Análise: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natureza do projeto é a volatilidade e a dinâmica da temperatura, o sistema coleta, processa e atualiza as informações no indicador de maneira flexível, com atualizações diárias, semanais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mensais ou em tempo re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dos dados.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7" name="Google Shape;1087;p18"/>
          <p:cNvSpPr txBox="1"/>
          <p:nvPr/>
        </p:nvSpPr>
        <p:spPr>
          <a:xfrm>
            <a:off x="-20894" y="312022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PROTÓTIPOS DA SOLUÇÃO</a:t>
            </a:r>
            <a:endParaRPr b="1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7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PROTÓTIPOS DA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3" name="Google Shape;1093;p17" title="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0818" y="1234512"/>
            <a:ext cx="764857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17" title="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0817" y="1234511"/>
            <a:ext cx="76485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9"/>
          <p:cNvSpPr txBox="1"/>
          <p:nvPr>
            <p:ph idx="1" type="body"/>
          </p:nvPr>
        </p:nvSpPr>
        <p:spPr>
          <a:xfrm>
            <a:off x="0" y="6378935"/>
            <a:ext cx="12192000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</a:pPr>
            <a:r>
              <a:rPr b="1" lang="pt-BR" sz="1400">
                <a:solidFill>
                  <a:srgbClr val="0C0C0C"/>
                </a:solidFill>
              </a:rPr>
              <a:t>KANBAN – Fluxo de trabalho</a:t>
            </a:r>
            <a:endParaRPr/>
          </a:p>
        </p:txBody>
      </p:sp>
      <p:pic>
        <p:nvPicPr>
          <p:cNvPr id="1100" name="Google Shape;1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621" y="1171353"/>
            <a:ext cx="8130758" cy="4955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19"/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PLANEJAMENTO E GESTÃO DO PROJETO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0"/>
          <p:cNvSpPr txBox="1"/>
          <p:nvPr>
            <p:ph idx="1" type="body"/>
          </p:nvPr>
        </p:nvSpPr>
        <p:spPr>
          <a:xfrm>
            <a:off x="989112" y="5686646"/>
            <a:ext cx="4083630" cy="79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/>
              <a:t>Cronograma  do projeto (Sprint 2):</a:t>
            </a:r>
            <a:br>
              <a:rPr b="1" lang="pt-BR" sz="1400"/>
            </a:br>
            <a:r>
              <a:rPr b="1" lang="pt-BR" sz="1400"/>
              <a:t>   Início: </a:t>
            </a:r>
            <a:r>
              <a:rPr lang="pt-BR" sz="1400"/>
              <a:t>15/11/2025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/>
              <a:t>   Fim: </a:t>
            </a:r>
            <a:r>
              <a:rPr lang="pt-BR" sz="1400"/>
              <a:t>01/12/2025</a:t>
            </a:r>
            <a:endParaRPr/>
          </a:p>
        </p:txBody>
      </p:sp>
      <p:pic>
        <p:nvPicPr>
          <p:cNvPr id="1107" name="Google Shape;1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112" y="1255856"/>
            <a:ext cx="10213775" cy="43462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20"/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PLANEJAMENTO E GESTÃO DO PROJETO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9" name="Google Shape;1109;p20"/>
          <p:cNvSpPr txBox="1"/>
          <p:nvPr/>
        </p:nvSpPr>
        <p:spPr>
          <a:xfrm>
            <a:off x="0" y="6378935"/>
            <a:ext cx="12192000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1"/>
          <p:cNvSpPr txBox="1"/>
          <p:nvPr>
            <p:ph idx="1" type="body"/>
          </p:nvPr>
        </p:nvSpPr>
        <p:spPr>
          <a:xfrm>
            <a:off x="12900991" y="705679"/>
            <a:ext cx="2849944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/>
              <a:t>Kanban – Fluxo de trabalho</a:t>
            </a:r>
            <a:endParaRPr/>
          </a:p>
        </p:txBody>
      </p:sp>
      <p:pic>
        <p:nvPicPr>
          <p:cNvPr id="1115" name="Google Shape;11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5238" y="1171353"/>
            <a:ext cx="4306138" cy="4979137"/>
          </a:xfrm>
          <a:prstGeom prst="rect">
            <a:avLst/>
          </a:prstGeom>
          <a:noFill/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</p:pic>
      <p:sp>
        <p:nvSpPr>
          <p:cNvPr id="1116" name="Google Shape;1116;p21"/>
          <p:cNvSpPr txBox="1"/>
          <p:nvPr/>
        </p:nvSpPr>
        <p:spPr>
          <a:xfrm>
            <a:off x="1096010" y="1399798"/>
            <a:ext cx="52285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Cadastro e gestão de “subtarefas” na ferramenta de KANBAN.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1"/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PLANEJAMENTO E GESTÃO DO PROJETO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8" name="Google Shape;1118;p21"/>
          <p:cNvSpPr txBox="1"/>
          <p:nvPr/>
        </p:nvSpPr>
        <p:spPr>
          <a:xfrm>
            <a:off x="0" y="6378935"/>
            <a:ext cx="12192000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SUBTAREFAS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2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4" name="Google Shape;11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422" y="1019907"/>
            <a:ext cx="6302966" cy="4047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20" y="1593333"/>
            <a:ext cx="5406502" cy="305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22"/>
          <p:cNvSpPr txBox="1"/>
          <p:nvPr/>
        </p:nvSpPr>
        <p:spPr>
          <a:xfrm>
            <a:off x="1273945" y="4817893"/>
            <a:ext cx="39771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Figura 01 - Gráfico de dispersão representando as atividades diárias de 3 empresas fictícias e </a:t>
            </a:r>
            <a:r>
              <a:rPr b="1"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quantidade média de transações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2"/>
          <p:cNvSpPr txBox="1"/>
          <p:nvPr/>
        </p:nvSpPr>
        <p:spPr>
          <a:xfrm>
            <a:off x="6650852" y="5156447"/>
            <a:ext cx="39771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Figura 0</a:t>
            </a:r>
            <a:r>
              <a:rPr b="1"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Gráfico de </a:t>
            </a:r>
            <a:r>
              <a:rPr b="1"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colunas </a:t>
            </a: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representando as atividades diárias de 3 empresas fictícia</a:t>
            </a:r>
            <a:r>
              <a:rPr b="1"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 e a quantidade média de transações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3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23"/>
          <p:cNvSpPr txBox="1"/>
          <p:nvPr/>
        </p:nvSpPr>
        <p:spPr>
          <a:xfrm>
            <a:off x="1166327" y="1735500"/>
            <a:ext cx="10487608" cy="4301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Desafios futuros: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Configurar um comportamento eficiente para os agentes de 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Alinhar o uso dos dados com a LGPD.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Deixar a plataforma visualmente confortável e intuitiva para os usuários.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Uma imagem contendo esqui, barco, água, pequeno&#10;&#10;Descrição gerada automaticamente" id="1134" name="Google Shape;1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7201" y="4113625"/>
            <a:ext cx="3845859" cy="192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d8281e9df8_1_36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3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d8281e9df8_1_40"/>
          <p:cNvSpPr txBox="1"/>
          <p:nvPr/>
        </p:nvSpPr>
        <p:spPr>
          <a:xfrm>
            <a:off x="-20894" y="5691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6" name="Google Shape;1146;g3d8281e9df8_1_40" title="ChatGPT Image 22 de abr. de 2026 22_49_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000" y="1277197"/>
            <a:ext cx="7914002" cy="5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d8281e9df8_1_47"/>
          <p:cNvSpPr txBox="1"/>
          <p:nvPr/>
        </p:nvSpPr>
        <p:spPr>
          <a:xfrm>
            <a:off x="-20894" y="5691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2" name="Google Shape;1152;g3d8281e9df8_1_47"/>
          <p:cNvSpPr txBox="1"/>
          <p:nvPr/>
        </p:nvSpPr>
        <p:spPr>
          <a:xfrm>
            <a:off x="925885" y="1377281"/>
            <a:ext cx="101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Legenda: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3" name="Google Shape;1153;g3d8281e9df8_1_47"/>
          <p:cNvGraphicFramePr/>
          <p:nvPr/>
        </p:nvGraphicFramePr>
        <p:xfrm>
          <a:off x="1474902" y="2279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{34E5F564-A7F1-4FA2-8334-4BBE50239D53}</a:tableStyleId>
              </a:tblPr>
              <a:tblGrid>
                <a:gridCol w="1557025"/>
                <a:gridCol w="7469925"/>
              </a:tblGrid>
              <a:tr h="77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Números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Explicação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9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u="none" cap="none" strike="noStrike"/>
                        <a:t>1 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/>
                        <a:t>Extração dos dados por meio de uma vasta variação de arquivos.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58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/>
                        <a:t>2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/>
                        <a:t>Transformação dos dados de forma automatizada.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49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/>
                        <a:t>3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/>
                        <a:t>A</a:t>
                      </a:r>
                      <a:r>
                        <a:rPr lang="pt-BR"/>
                        <a:t>rmazenamento dos dados no Oracle Database.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87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/>
                        <a:t>4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/>
                        <a:t>Exibição dos dados por meio do dashboard e termômetro.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  <a:tr h="49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/>
                        <a:t>5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/>
                        <a:t>Produto entregue ao usuário final.</a:t>
                      </a:r>
                      <a:endParaRPr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d8b7783383_0_26"/>
          <p:cNvSpPr txBox="1"/>
          <p:nvPr/>
        </p:nvSpPr>
        <p:spPr>
          <a:xfrm>
            <a:off x="6" y="-3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EXTRAÇÃO, TRANSFORMAÇÃO E CARREGAMENTO</a:t>
            </a:r>
            <a:endParaRPr b="0" i="0" sz="3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9" name="Google Shape;1159;g3d8b7783383_0_26"/>
          <p:cNvSpPr txBox="1"/>
          <p:nvPr/>
        </p:nvSpPr>
        <p:spPr>
          <a:xfrm>
            <a:off x="1210800" y="2845050"/>
            <a:ext cx="9770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 nossa abordagem, utilizaremos o processo “ETL” para a lógica de processamento. Esse modelo garante mais otimização e performance para o projeto AURA, que atualizará tudo em tempo real.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d8b7783383_3_258"/>
          <p:cNvSpPr txBox="1"/>
          <p:nvPr/>
        </p:nvSpPr>
        <p:spPr>
          <a:xfrm>
            <a:off x="-20894" y="5691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Método ETL AURA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5" name="Google Shape;1165;g3d8b7783383_3_258"/>
          <p:cNvSpPr/>
          <p:nvPr/>
        </p:nvSpPr>
        <p:spPr>
          <a:xfrm>
            <a:off x="879950" y="2167000"/>
            <a:ext cx="2755800" cy="8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oppins"/>
                <a:ea typeface="Poppins"/>
                <a:cs typeface="Poppins"/>
                <a:sym typeface="Poppins"/>
              </a:rPr>
              <a:t>Extract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6" name="Google Shape;1166;g3d8b7783383_3_258"/>
          <p:cNvSpPr txBox="1"/>
          <p:nvPr/>
        </p:nvSpPr>
        <p:spPr>
          <a:xfrm>
            <a:off x="880100" y="3282550"/>
            <a:ext cx="27558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forma automatizada os dados 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relacionados ao comportamento das FIDCs das  empresas cadastradas no AURA,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serão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extraidos de fontes diversas, como o portal da CVM.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7" name="Google Shape;1167;g3d8b7783383_3_258"/>
          <p:cNvSpPr/>
          <p:nvPr/>
        </p:nvSpPr>
        <p:spPr>
          <a:xfrm>
            <a:off x="8919488" y="2153550"/>
            <a:ext cx="2755800" cy="8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oppins"/>
                <a:ea typeface="Poppins"/>
                <a:cs typeface="Poppins"/>
                <a:sym typeface="Poppins"/>
              </a:rPr>
              <a:t>Load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8" name="Google Shape;1168;g3d8b7783383_3_258"/>
          <p:cNvSpPr/>
          <p:nvPr/>
        </p:nvSpPr>
        <p:spPr>
          <a:xfrm>
            <a:off x="4899725" y="2153550"/>
            <a:ext cx="2755800" cy="8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oppins"/>
                <a:ea typeface="Poppins"/>
                <a:cs typeface="Poppins"/>
                <a:sym typeface="Poppins"/>
              </a:rPr>
              <a:t>Transform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9" name="Google Shape;1169;g3d8b7783383_3_258"/>
          <p:cNvSpPr txBox="1"/>
          <p:nvPr/>
        </p:nvSpPr>
        <p:spPr>
          <a:xfrm>
            <a:off x="8919350" y="3361600"/>
            <a:ext cx="27558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Só será armazenado aquilo que de fato for para o site, tudo é atualizado em tempo real (D-N).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0" name="Google Shape;1170;g3d8b7783383_3_258"/>
          <p:cNvSpPr txBox="1"/>
          <p:nvPr/>
        </p:nvSpPr>
        <p:spPr>
          <a:xfrm>
            <a:off x="4899725" y="3282550"/>
            <a:ext cx="2755800" cy="1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dados serão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filtrados e organizados para que cada termõmetro e dashboard corresponda a empresa filtrada.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1" name="Google Shape;1171;g3d8b7783383_3_258"/>
          <p:cNvSpPr/>
          <p:nvPr/>
        </p:nvSpPr>
        <p:spPr>
          <a:xfrm>
            <a:off x="3942475" y="2451300"/>
            <a:ext cx="673200" cy="28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2" name="Google Shape;1172;g3d8b7783383_3_258"/>
          <p:cNvSpPr/>
          <p:nvPr/>
        </p:nvSpPr>
        <p:spPr>
          <a:xfrm>
            <a:off x="7939575" y="2464750"/>
            <a:ext cx="673200" cy="28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d8b7783383_0_31"/>
          <p:cNvSpPr txBox="1"/>
          <p:nvPr/>
        </p:nvSpPr>
        <p:spPr>
          <a:xfrm>
            <a:off x="6" y="-3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EXTRAÇÃO, TRANSFORMAÇÃO E CARREGAMENTO</a:t>
            </a:r>
            <a:endParaRPr b="0" i="0" sz="3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8" name="Google Shape;1178;g3d8b7783383_0_31"/>
          <p:cNvSpPr txBox="1"/>
          <p:nvPr/>
        </p:nvSpPr>
        <p:spPr>
          <a:xfrm>
            <a:off x="1302700" y="1431100"/>
            <a:ext cx="9770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Extração: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dado é extraido de forma automatizada. A ideia é capturar o arquivo da maneira como ele está registrado na fonte.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Transformação: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Serão criadas as referências das tabelas e as regras de negócio serão aplicadas. Assim, há como se aproveitar do motor do Power BI para realizar cálculos complexos e a auditoria de dados.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Carregamento: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dados brutos são carregados para o banco de dados Oracle. Para a prevenção, é criada um “Staging” (Tabela Espelho), que é onde há os arquivos sem alteração que serão os arquivos de backup para o programa.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d8281e9df8_1_7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3d8281e9df8_1_7"/>
          <p:cNvSpPr txBox="1"/>
          <p:nvPr/>
        </p:nvSpPr>
        <p:spPr>
          <a:xfrm>
            <a:off x="1445700" y="1362150"/>
            <a:ext cx="9300600" cy="41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Funcionalidades essenciais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Site para acesso à solução e investimento em hospedagem e domínio.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Interface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○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 de login.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○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 das empresas.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■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Dashboard.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■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Termômetro.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○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 de recomendações de investimentos.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Atualização em tempo real D-2.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d8281e9df8_1_74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g3d8281e9df8_1_74"/>
          <p:cNvSpPr txBox="1"/>
          <p:nvPr/>
        </p:nvSpPr>
        <p:spPr>
          <a:xfrm>
            <a:off x="1445700" y="1362150"/>
            <a:ext cx="9300600" cy="5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valor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Diferencial</a:t>
            </a:r>
            <a:r>
              <a:rPr b="1"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pioneirismo, centralização de informações estratégicas do mercado de FIDCs e termômetro de tendências.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Monetização:</a:t>
            </a: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Google Sans"/>
              <a:buChar char="●"/>
            </a:pPr>
            <a:r>
              <a:rPr b="1"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Modelo B2B (SaaS): </a:t>
            </a: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Cobrar uma assinatura das empresas para figurarem com destaque ou dashboards detalhados.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Google Sans"/>
              <a:buChar char="●"/>
            </a:pPr>
            <a:r>
              <a:rPr b="1"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Freemium:</a:t>
            </a: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Gratuito para investidores (termômetro básico) e pago para acesso a análises profundas e relatórios de IA.</a:t>
            </a:r>
            <a:endParaRPr sz="2000">
              <a:solidFill>
                <a:srgbClr val="0A0A0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d8281e9df8_1_61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9" name="Google Shape;1199;g3d8281e9df8_1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450" y="1593526"/>
            <a:ext cx="8789100" cy="47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g3d8281e9df8_1_61"/>
          <p:cNvSpPr txBox="1"/>
          <p:nvPr/>
        </p:nvSpPr>
        <p:spPr>
          <a:xfrm>
            <a:off x="0" y="1100925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Tela de login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1" name="Google Shape;1201;g3d8281e9df8_1_61" title="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175" y="3089375"/>
            <a:ext cx="288600" cy="2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g3d8281e9df8_1_61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9000" y="1718275"/>
            <a:ext cx="397975" cy="3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d8281e9df8_1_68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9" name="Google Shape;1209;g3d8281e9df8_1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775" y="1593525"/>
            <a:ext cx="7178450" cy="47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3d8281e9df8_1_68"/>
          <p:cNvSpPr txBox="1"/>
          <p:nvPr/>
        </p:nvSpPr>
        <p:spPr>
          <a:xfrm>
            <a:off x="0" y="1100925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Interface do site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4"/>
          <p:cNvSpPr txBox="1"/>
          <p:nvPr>
            <p:ph type="ctrTitle"/>
          </p:nvPr>
        </p:nvSpPr>
        <p:spPr>
          <a:xfrm>
            <a:off x="2384814" y="1112117"/>
            <a:ext cx="7422372" cy="38926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4120"/>
              </a:buClr>
              <a:buSzPts val="6600"/>
              <a:buFont typeface="Poppins SemiBold"/>
              <a:buNone/>
            </a:pPr>
            <a:r>
              <a:rPr lang="pt-BR" sz="6600">
                <a:solidFill>
                  <a:srgbClr val="8D4120"/>
                </a:solidFill>
              </a:rPr>
              <a:t>MUITO OBRIGADO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AURA">
      <a:dk1>
        <a:srgbClr val="000000"/>
      </a:dk1>
      <a:lt1>
        <a:srgbClr val="D37811"/>
      </a:lt1>
      <a:dk2>
        <a:srgbClr val="FFFFFF"/>
      </a:dk2>
      <a:lt2>
        <a:srgbClr val="FBE6CE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F2AE62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2016-03-03T21:44:23Z</dcterms:created>
  <dc:creator>Claudio Jose Carvajal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0x010100073F43C90795D34597BB9869193EBE29</vt:lpwstr>
  </property>
  <property fmtid="{D5CDD505-2E9C-101B-9397-08002B2CF9AE}" pid="3" name="MediaServiceImageTags">
    <vt:lpwstr/>
  </property>
  <property fmtid="{D5CDD505-2E9C-101B-9397-08002B2CF9AE}" pid="4" name="Order">
    <vt:r8>148400.0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