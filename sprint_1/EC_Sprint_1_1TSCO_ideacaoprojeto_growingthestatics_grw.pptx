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6"/>
  </p:notesMasterIdLst>
  <p:sldIdLst>
    <p:sldId id="256" r:id="rId5"/>
    <p:sldId id="353" r:id="rId6"/>
    <p:sldId id="355" r:id="rId7"/>
    <p:sldId id="359" r:id="rId8"/>
    <p:sldId id="360" r:id="rId9"/>
    <p:sldId id="361" r:id="rId10"/>
    <p:sldId id="362" r:id="rId11"/>
    <p:sldId id="363" r:id="rId12"/>
    <p:sldId id="364" r:id="rId13"/>
    <p:sldId id="357" r:id="rId14"/>
    <p:sldId id="3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DE9153-50A2-948B-DBC2-978D4083A507}" v="55" dt="2024-10-02T11:51:27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37386" autoAdjust="0"/>
  </p:normalViewPr>
  <p:slideViewPr>
    <p:cSldViewPr snapToGrid="0">
      <p:cViewPr>
        <p:scale>
          <a:sx n="63" d="100"/>
          <a:sy n="63" d="100"/>
        </p:scale>
        <p:origin x="1224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E477A-E325-42E0-A47E-E784F558C2E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4EB2F-2ADA-4797-8F5A-3A415D7FA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01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4EB2F-2ADA-4797-8F5A-3A415D7FACA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09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Relationship Id="rId9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9.svg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4.pn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12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12.png"/><Relationship Id="rId5" Type="http://schemas.openxmlformats.org/officeDocument/2006/relationships/image" Target="../media/image2.svg"/><Relationship Id="rId10" Type="http://schemas.openxmlformats.org/officeDocument/2006/relationships/image" Target="../media/image11.sv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6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4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 altLang="zh-CN"/>
              <a:t>Clique para editar o título Mestre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41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19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01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80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06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77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776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1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81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56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727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418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48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85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84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67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486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7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18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34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733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01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002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3442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34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3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9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739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805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238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78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61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74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516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612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887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2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34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72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446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285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78175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3107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348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325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562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9232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9905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9086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8830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1443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0759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6272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50580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593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2399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031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70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 altLang="zh-CN"/>
              <a:t>Clique para editar o título Mestre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445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05178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F07B927E-8C89-E62E-181B-310EF31222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15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41510" y="1303187"/>
            <a:ext cx="11019672" cy="4341326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Nome da Equipe: </a:t>
            </a:r>
            <a:r>
              <a:rPr lang="pt-BR" sz="2000" dirty="0">
                <a:solidFill>
                  <a:schemeClr val="bg1"/>
                </a:solidFill>
              </a:rPr>
              <a:t>GRW</a:t>
            </a:r>
          </a:p>
          <a:p>
            <a:pPr algn="l"/>
            <a:endParaRPr lang="pt-BR" sz="900" dirty="0"/>
          </a:p>
          <a:p>
            <a:pPr algn="l"/>
            <a:r>
              <a:rPr lang="pt-BR" dirty="0"/>
              <a:t>Nome dos componentes e RM: </a:t>
            </a:r>
            <a:endParaRPr lang="pt-BR" sz="2000" dirty="0">
              <a:solidFill>
                <a:srgbClr val="0070C0"/>
              </a:solidFill>
            </a:endParaRPr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FE3BE1A-D98A-1230-1DE8-3FA40555E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524" y="2707644"/>
            <a:ext cx="4578952" cy="284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1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D4CF59B-2A0F-5DA5-89D6-A0015B98ECF8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NOME DA SOLUÇÃO/PROJETO</a:t>
            </a:r>
            <a:endParaRPr lang="pt-BR" sz="40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D26D54D-0899-6760-0B96-57B21EB0B6D3}"/>
              </a:ext>
            </a:extLst>
          </p:cNvPr>
          <p:cNvSpPr txBox="1"/>
          <p:nvPr/>
        </p:nvSpPr>
        <p:spPr>
          <a:xfrm>
            <a:off x="4029021" y="5185354"/>
            <a:ext cx="36669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Growing the statics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906C31B-790A-9053-5F08-8A5DA5978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499" y="1884174"/>
            <a:ext cx="2913968" cy="291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95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 txBox="1">
            <a:spLocks/>
          </p:cNvSpPr>
          <p:nvPr/>
        </p:nvSpPr>
        <p:spPr>
          <a:xfrm>
            <a:off x="937069" y="1946423"/>
            <a:ext cx="10317862" cy="29651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33CC"/>
              </a:buClr>
            </a:pPr>
            <a:r>
              <a:rPr lang="pt-BR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Núclea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é uma empresa de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infraestrutura de mercado financeiro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análise de dados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que oferece diversas soluções para o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setor financeiro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de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crédito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cobrança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pagamentos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seguros. 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Dentre as principais características de suas soluções de inteligência de dados, é possível citar a análise massiva de transações feitas via  boletos, TED e cartões. </a:t>
            </a:r>
          </a:p>
          <a:p>
            <a:pPr>
              <a:buClr>
                <a:srgbClr val="FF33CC"/>
              </a:buClr>
            </a:pP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Nesse contexto é possível destacar a solução SCORE BLEND PJ dessa registradora, que calcula a probabilidade de uma empresa cumprir com suas obrigações financeiras e manter seu cadastro positivo. Porém essa solução poderia ser ainda mais assertiva.</a:t>
            </a:r>
          </a:p>
          <a:p>
            <a:pPr>
              <a:buClr>
                <a:srgbClr val="FF33CC"/>
              </a:buClr>
            </a:pP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A "raiz do problema" que a Núclea resolve está ligada à necessidade de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confiança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transparência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 </a:t>
            </a:r>
            <a:r>
              <a:rPr lang="pt-BR" sz="1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eficiência</a:t>
            </a: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em um mercado financeiro.</a:t>
            </a:r>
          </a:p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7D48DFF-07B7-9D63-72F1-0930C9D8C292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CONTEXTUALIZAÇÃO DO PROBLEMA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3823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963561" y="1998407"/>
            <a:ext cx="10264878" cy="286118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33CC"/>
              </a:buClr>
            </a:pP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Na empresa Núclea o chefe Marcelo Pereira estava preso em um labirinto em que observava somente dados internos e externos de situações atuais para a obtenção de insights, mas a jovem aprendiz Ana notou que observar dados externos de situações passadas também é muito importante, junto com uma solução que a empresa já implementava anteriormente, que é a solução Score Blend PJ</a:t>
            </a:r>
          </a:p>
          <a:p>
            <a:pPr>
              <a:buClr>
                <a:srgbClr val="FF33CC"/>
              </a:buClr>
            </a:pP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Diante do que a jovem aprendiz Ana notou, o problema a ser resolvido é que a análise citada poderia ser ainda mais assertiva utilizando dados externos que a empresa ainda não utilizar para realizar seus cálculos.</a:t>
            </a:r>
          </a:p>
          <a:p>
            <a:pPr>
              <a:buClr>
                <a:srgbClr val="FF33CC"/>
              </a:buClr>
            </a:pPr>
            <a:endParaRPr lang="pt-BR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1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8B9DA33-760E-6DE4-D001-74FF24C162F2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PROBLEMA A SER RESOLVIDO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486106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 txBox="1">
            <a:spLocks/>
          </p:cNvSpPr>
          <p:nvPr/>
        </p:nvSpPr>
        <p:spPr>
          <a:xfrm>
            <a:off x="1310793" y="2092703"/>
            <a:ext cx="9528626" cy="13362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Clr>
                <a:srgbClr val="FF33CC"/>
              </a:buClr>
            </a:pPr>
            <a:r>
              <a:rPr lang="pt-BR" sz="2400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público-alvo seriam as FIDCS e as instituições financeiras.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4977A2-94C3-B593-B765-0944D3473A5F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PÚBLICO-ALVO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09402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ha 2">
            <a:extLst>
              <a:ext uri="{FF2B5EF4-FFF2-40B4-BE49-F238E27FC236}">
                <a16:creationId xmlns:a16="http://schemas.microsoft.com/office/drawing/2014/main" id="{AE7CBC5E-AABF-A6B2-5CBE-6483EE5F1883}"/>
              </a:ext>
            </a:extLst>
          </p:cNvPr>
          <p:cNvSpPr>
            <a:spLocks/>
          </p:cNvSpPr>
          <p:nvPr/>
        </p:nvSpPr>
        <p:spPr bwMode="auto">
          <a:xfrm>
            <a:off x="4055065" y="1562532"/>
            <a:ext cx="1773453" cy="1472470"/>
          </a:xfrm>
          <a:custGeom>
            <a:avLst/>
            <a:gdLst>
              <a:gd name="T0" fmla="*/ 0 w 274"/>
              <a:gd name="T1" fmla="*/ 354 h 354"/>
              <a:gd name="T2" fmla="*/ 274 w 274"/>
              <a:gd name="T3" fmla="*/ 11 h 354"/>
              <a:gd name="T4" fmla="*/ 274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9" name="Linha 3">
            <a:extLst>
              <a:ext uri="{FF2B5EF4-FFF2-40B4-BE49-F238E27FC236}">
                <a16:creationId xmlns:a16="http://schemas.microsoft.com/office/drawing/2014/main" id="{7C3D0F51-9FBD-6A71-0803-8D05B25C94F9}"/>
              </a:ext>
            </a:extLst>
          </p:cNvPr>
          <p:cNvSpPr>
            <a:spLocks/>
          </p:cNvSpPr>
          <p:nvPr/>
        </p:nvSpPr>
        <p:spPr bwMode="auto">
          <a:xfrm>
            <a:off x="6231733" y="1562532"/>
            <a:ext cx="2222347" cy="1426177"/>
          </a:xfrm>
          <a:custGeom>
            <a:avLst/>
            <a:gdLst>
              <a:gd name="T0" fmla="*/ 274 w 274"/>
              <a:gd name="T1" fmla="*/ 354 h 354"/>
              <a:gd name="T2" fmla="*/ 0 w 274"/>
              <a:gd name="T3" fmla="*/ 11 h 354"/>
              <a:gd name="T4" fmla="*/ 0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7" name="Bolinha 2">
            <a:extLst>
              <a:ext uri="{FF2B5EF4-FFF2-40B4-BE49-F238E27FC236}">
                <a16:creationId xmlns:a16="http://schemas.microsoft.com/office/drawing/2014/main" id="{9ADF999C-263B-D739-F0E4-B9558530D46F}"/>
              </a:ext>
            </a:extLst>
          </p:cNvPr>
          <p:cNvSpPr/>
          <p:nvPr/>
        </p:nvSpPr>
        <p:spPr>
          <a:xfrm>
            <a:off x="5787836" y="1474503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8" name="Bolinha 3">
            <a:extLst>
              <a:ext uri="{FF2B5EF4-FFF2-40B4-BE49-F238E27FC236}">
                <a16:creationId xmlns:a16="http://schemas.microsoft.com/office/drawing/2014/main" id="{E4617D2A-FCCA-30F3-082F-2972BF3F5068}"/>
              </a:ext>
            </a:extLst>
          </p:cNvPr>
          <p:cNvSpPr/>
          <p:nvPr/>
        </p:nvSpPr>
        <p:spPr>
          <a:xfrm>
            <a:off x="6128415" y="1474200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grpSp>
        <p:nvGrpSpPr>
          <p:cNvPr id="22" name="Forma 2">
            <a:extLst>
              <a:ext uri="{FF2B5EF4-FFF2-40B4-BE49-F238E27FC236}">
                <a16:creationId xmlns:a16="http://schemas.microsoft.com/office/drawing/2014/main" id="{CB86C969-B4F8-E3A0-26D1-14AE2462A07E}"/>
              </a:ext>
            </a:extLst>
          </p:cNvPr>
          <p:cNvGrpSpPr/>
          <p:nvPr/>
        </p:nvGrpSpPr>
        <p:grpSpPr>
          <a:xfrm>
            <a:off x="7720074" y="3113343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3" name="ÍC2">
              <a:extLst>
                <a:ext uri="{FF2B5EF4-FFF2-40B4-BE49-F238E27FC236}">
                  <a16:creationId xmlns:a16="http://schemas.microsoft.com/office/drawing/2014/main" id="{4FDC5F16-6EC9-CF68-E26A-3DE89691B5A4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4" name="Contorno 2">
              <a:extLst>
                <a:ext uri="{FF2B5EF4-FFF2-40B4-BE49-F238E27FC236}">
                  <a16:creationId xmlns:a16="http://schemas.microsoft.com/office/drawing/2014/main" id="{91E11F68-FDCB-714D-8229-379B0F18FFEB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38" name="TXT2">
            <a:extLst>
              <a:ext uri="{FF2B5EF4-FFF2-40B4-BE49-F238E27FC236}">
                <a16:creationId xmlns:a16="http://schemas.microsoft.com/office/drawing/2014/main" id="{F6A01037-99EF-72F0-8D2A-7CF3F834BE17}"/>
              </a:ext>
            </a:extLst>
          </p:cNvPr>
          <p:cNvSpPr txBox="1"/>
          <p:nvPr/>
        </p:nvSpPr>
        <p:spPr>
          <a:xfrm>
            <a:off x="7238938" y="4541112"/>
            <a:ext cx="2384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Exibição gráfica de dados: </a:t>
            </a:r>
            <a:r>
              <a:rPr lang="pt-BR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Utilizar o streamlit para exibir os resultado dos cálculos através de fontes externas ainda não utilizadas pela Núclea.</a:t>
            </a:r>
            <a:endParaRPr lang="pt-BR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4" name="ÍC1">
            <a:extLst>
              <a:ext uri="{FF2B5EF4-FFF2-40B4-BE49-F238E27FC236}">
                <a16:creationId xmlns:a16="http://schemas.microsoft.com/office/drawing/2014/main" id="{CB267261-F221-40C9-87D0-B5D538939B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7283" y="3390089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pic>
        <p:nvPicPr>
          <p:cNvPr id="50" name="ÍC2">
            <a:extLst>
              <a:ext uri="{FF2B5EF4-FFF2-40B4-BE49-F238E27FC236}">
                <a16:creationId xmlns:a16="http://schemas.microsoft.com/office/drawing/2014/main" id="{85720F0C-C581-7D24-773A-2154DD6953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0074" y="3338559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grpSp>
        <p:nvGrpSpPr>
          <p:cNvPr id="4" name="Forma 2">
            <a:extLst>
              <a:ext uri="{FF2B5EF4-FFF2-40B4-BE49-F238E27FC236}">
                <a16:creationId xmlns:a16="http://schemas.microsoft.com/office/drawing/2014/main" id="{B18064E7-1F7B-8208-A5F7-832B05B753EA}"/>
              </a:ext>
            </a:extLst>
          </p:cNvPr>
          <p:cNvGrpSpPr/>
          <p:nvPr/>
        </p:nvGrpSpPr>
        <p:grpSpPr>
          <a:xfrm>
            <a:off x="3117284" y="3113343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5" name="ÍC2">
              <a:extLst>
                <a:ext uri="{FF2B5EF4-FFF2-40B4-BE49-F238E27FC236}">
                  <a16:creationId xmlns:a16="http://schemas.microsoft.com/office/drawing/2014/main" id="{0A974D12-2294-7533-6C70-792E149AEF96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3" name="Contorno 2">
              <a:extLst>
                <a:ext uri="{FF2B5EF4-FFF2-40B4-BE49-F238E27FC236}">
                  <a16:creationId xmlns:a16="http://schemas.microsoft.com/office/drawing/2014/main" id="{9BA2D67F-08E2-FD11-7D5D-3249253829B6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33" name="TXT2">
            <a:extLst>
              <a:ext uri="{FF2B5EF4-FFF2-40B4-BE49-F238E27FC236}">
                <a16:creationId xmlns:a16="http://schemas.microsoft.com/office/drawing/2014/main" id="{DAE14B43-4068-5D3A-EDB6-7CF3BA101350}"/>
              </a:ext>
            </a:extLst>
          </p:cNvPr>
          <p:cNvSpPr txBox="1"/>
          <p:nvPr/>
        </p:nvSpPr>
        <p:spPr>
          <a:xfrm>
            <a:off x="2568678" y="4539721"/>
            <a:ext cx="2384385" cy="1499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>
              <a:lnSpc>
                <a:spcPct val="110000"/>
              </a:lnSpc>
              <a:buClr>
                <a:srgbClr val="FF33CC"/>
              </a:buClr>
            </a:pPr>
            <a:r>
              <a:rPr lang="pt-BR" b="1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Melhorar a assertividade </a:t>
            </a:r>
            <a:r>
              <a:rPr lang="pt-BR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 solução SCORE BLEND PJ, através da utilização de dados externos com base em análises passadas, realizadas pela Núclea.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B81E67-DBC9-1136-DCC0-35B2EE3821B6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PROPOSTA DE SOLUÇÃO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83315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17 -2.96296E-6 C -0.0082 0.0419 -0.02188 0.06088 -0.0724 0.09653 C -0.11706 0.13797 -0.14857 0.13241 -0.1569 0.21922 " pathEditMode="relative" rAng="16200000" ptsTypes="AAA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43" y="1097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03 -2.96296E-6 C -0.00403 0.05047 0.03828 0.06806 0.07227 0.08681 C 0.14453 0.13218 0.1737 0.13935 0.18099 0.20371 " pathEditMode="relative" rAng="16200000" ptsTypes="AAA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45" y="1018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3.54167E-6 -4.44444E-6 L 0.01523 0.04676 " pathEditMode="relative" rAng="0" ptsTypes="AA">
                                      <p:cBhvr>
                                        <p:cTn id="34" dur="75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3.54167E-6 3.7037E-6 L 0.01524 0.0467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7" grpId="0" animBg="1"/>
      <p:bldP spid="17" grpId="1" animBg="1"/>
      <p:bldP spid="18" grpId="0" animBg="1"/>
      <p:bldP spid="18" grpId="1" animBg="1"/>
      <p:bldP spid="38" grpId="0"/>
      <p:bldP spid="38" grpId="1"/>
      <p:bldP spid="33" grpId="0"/>
      <p:bldP spid="3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1">
            <a:extLst>
              <a:ext uri="{FF2B5EF4-FFF2-40B4-BE49-F238E27FC236}">
                <a16:creationId xmlns:a16="http://schemas.microsoft.com/office/drawing/2014/main" id="{1D511FFB-2310-43D9-3384-1BD2DC42FB87}"/>
              </a:ext>
            </a:extLst>
          </p:cNvPr>
          <p:cNvSpPr txBox="1"/>
          <p:nvPr/>
        </p:nvSpPr>
        <p:spPr>
          <a:xfrm>
            <a:off x="1113128" y="1553535"/>
            <a:ext cx="3611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Melhoria na tomada de decisões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XT1">
            <a:extLst>
              <a:ext uri="{FF2B5EF4-FFF2-40B4-BE49-F238E27FC236}">
                <a16:creationId xmlns:a16="http://schemas.microsoft.com/office/drawing/2014/main" id="{B8A08577-6E04-B95F-75CC-19F19E8A6CAF}"/>
              </a:ext>
            </a:extLst>
          </p:cNvPr>
          <p:cNvSpPr txBox="1"/>
          <p:nvPr/>
        </p:nvSpPr>
        <p:spPr>
          <a:xfrm>
            <a:off x="1113128" y="1957122"/>
            <a:ext cx="357382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just"/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 o uso de novos dados no cálculo de probabilidade de pagamentos das empresas, os cálculos se tornam mais precisos e a tomada de decisões mais assertiva com base neles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3">
            <a:extLst>
              <a:ext uri="{FF2B5EF4-FFF2-40B4-BE49-F238E27FC236}">
                <a16:creationId xmlns:a16="http://schemas.microsoft.com/office/drawing/2014/main" id="{7BCC832B-33C3-C895-1C30-B55F19474561}"/>
              </a:ext>
            </a:extLst>
          </p:cNvPr>
          <p:cNvSpPr txBox="1"/>
          <p:nvPr/>
        </p:nvSpPr>
        <p:spPr>
          <a:xfrm>
            <a:off x="6999578" y="1556383"/>
            <a:ext cx="3896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Mercado mais transparente e confiável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XT3">
            <a:extLst>
              <a:ext uri="{FF2B5EF4-FFF2-40B4-BE49-F238E27FC236}">
                <a16:creationId xmlns:a16="http://schemas.microsoft.com/office/drawing/2014/main" id="{46E88EC5-7C87-C979-257E-CA49EE6CC463}"/>
              </a:ext>
            </a:extLst>
          </p:cNvPr>
          <p:cNvSpPr txBox="1"/>
          <p:nvPr/>
        </p:nvSpPr>
        <p:spPr>
          <a:xfrm>
            <a:off x="6999578" y="1954814"/>
            <a:ext cx="356389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 a implementação dessas tecnologias a empresa Núclea consegue se destacar por oferecer soluções mais eficientes, aumentando sua credibilidade no mercado FIDCS.</a:t>
            </a:r>
          </a:p>
        </p:txBody>
      </p:sp>
      <p:sp>
        <p:nvSpPr>
          <p:cNvPr id="10" name="T3">
            <a:extLst>
              <a:ext uri="{FF2B5EF4-FFF2-40B4-BE49-F238E27FC236}">
                <a16:creationId xmlns:a16="http://schemas.microsoft.com/office/drawing/2014/main" id="{D5C81405-21D1-EC04-B032-59D6C1002D88}"/>
              </a:ext>
            </a:extLst>
          </p:cNvPr>
          <p:cNvSpPr txBox="1"/>
          <p:nvPr/>
        </p:nvSpPr>
        <p:spPr>
          <a:xfrm>
            <a:off x="1113128" y="4184543"/>
            <a:ext cx="4424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Tecnologia disruptiva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XT3">
            <a:extLst>
              <a:ext uri="{FF2B5EF4-FFF2-40B4-BE49-F238E27FC236}">
                <a16:creationId xmlns:a16="http://schemas.microsoft.com/office/drawing/2014/main" id="{8113AF47-0F2D-FD4C-61F8-5B52A4CF8C2B}"/>
              </a:ext>
            </a:extLst>
          </p:cNvPr>
          <p:cNvSpPr txBox="1"/>
          <p:nvPr/>
        </p:nvSpPr>
        <p:spPr>
          <a:xfrm>
            <a:off x="1113128" y="4680463"/>
            <a:ext cx="44240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Trazer tecnologia ligadas ao mercado financeiro para maior proteção e segurança de dados, visando não só ajudar a Núclea mais também a fomentar o mercado como um todo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6DC4026-76A3-E561-719B-EC18DFF383F2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IMPACTOS DA SOLUÇÃO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26268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8" grpId="0"/>
      <p:bldP spid="3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ha 2">
            <a:extLst>
              <a:ext uri="{FF2B5EF4-FFF2-40B4-BE49-F238E27FC236}">
                <a16:creationId xmlns:a16="http://schemas.microsoft.com/office/drawing/2014/main" id="{AE7CBC5E-AABF-A6B2-5CBE-6483EE5F1883}"/>
              </a:ext>
            </a:extLst>
          </p:cNvPr>
          <p:cNvSpPr>
            <a:spLocks/>
          </p:cNvSpPr>
          <p:nvPr/>
        </p:nvSpPr>
        <p:spPr bwMode="auto">
          <a:xfrm>
            <a:off x="2047873" y="1562531"/>
            <a:ext cx="3780646" cy="2115111"/>
          </a:xfrm>
          <a:custGeom>
            <a:avLst/>
            <a:gdLst>
              <a:gd name="T0" fmla="*/ 0 w 274"/>
              <a:gd name="T1" fmla="*/ 354 h 354"/>
              <a:gd name="T2" fmla="*/ 274 w 274"/>
              <a:gd name="T3" fmla="*/ 11 h 354"/>
              <a:gd name="T4" fmla="*/ 274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9" name="Linha 3">
            <a:extLst>
              <a:ext uri="{FF2B5EF4-FFF2-40B4-BE49-F238E27FC236}">
                <a16:creationId xmlns:a16="http://schemas.microsoft.com/office/drawing/2014/main" id="{7C3D0F51-9FBD-6A71-0803-8D05B25C94F9}"/>
              </a:ext>
            </a:extLst>
          </p:cNvPr>
          <p:cNvSpPr>
            <a:spLocks/>
          </p:cNvSpPr>
          <p:nvPr/>
        </p:nvSpPr>
        <p:spPr bwMode="auto">
          <a:xfrm>
            <a:off x="6231734" y="1562531"/>
            <a:ext cx="4554058" cy="2115111"/>
          </a:xfrm>
          <a:custGeom>
            <a:avLst/>
            <a:gdLst>
              <a:gd name="T0" fmla="*/ 274 w 274"/>
              <a:gd name="T1" fmla="*/ 354 h 354"/>
              <a:gd name="T2" fmla="*/ 0 w 274"/>
              <a:gd name="T3" fmla="*/ 11 h 354"/>
              <a:gd name="T4" fmla="*/ 0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7" name="Bolinha 2">
            <a:extLst>
              <a:ext uri="{FF2B5EF4-FFF2-40B4-BE49-F238E27FC236}">
                <a16:creationId xmlns:a16="http://schemas.microsoft.com/office/drawing/2014/main" id="{9ADF999C-263B-D739-F0E4-B9558530D46F}"/>
              </a:ext>
            </a:extLst>
          </p:cNvPr>
          <p:cNvSpPr/>
          <p:nvPr/>
        </p:nvSpPr>
        <p:spPr>
          <a:xfrm>
            <a:off x="5787836" y="1474503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8" name="Bolinha 3">
            <a:extLst>
              <a:ext uri="{FF2B5EF4-FFF2-40B4-BE49-F238E27FC236}">
                <a16:creationId xmlns:a16="http://schemas.microsoft.com/office/drawing/2014/main" id="{E4617D2A-FCCA-30F3-082F-2972BF3F5068}"/>
              </a:ext>
            </a:extLst>
          </p:cNvPr>
          <p:cNvSpPr/>
          <p:nvPr/>
        </p:nvSpPr>
        <p:spPr>
          <a:xfrm>
            <a:off x="6128415" y="1474200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8" name="TXT2">
            <a:extLst>
              <a:ext uri="{FF2B5EF4-FFF2-40B4-BE49-F238E27FC236}">
                <a16:creationId xmlns:a16="http://schemas.microsoft.com/office/drawing/2014/main" id="{F6A01037-99EF-72F0-8D2A-7CF3F834BE17}"/>
              </a:ext>
            </a:extLst>
          </p:cNvPr>
          <p:cNvSpPr txBox="1"/>
          <p:nvPr/>
        </p:nvSpPr>
        <p:spPr>
          <a:xfrm>
            <a:off x="5039541" y="4385998"/>
            <a:ext cx="23843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dirty="0">
                <a:solidFill>
                  <a:schemeClr val="bg1">
                    <a:lumMod val="95000"/>
                    <a:lumOff val="5000"/>
                  </a:schemeClr>
                </a:solidFill>
              </a:rPr>
              <a:t>Mitigar ainda mais os riscos envolvendo fornecimento de crédito para CNPJs.</a:t>
            </a:r>
            <a:endParaRPr lang="pt-BR" i="0" dirty="0">
              <a:solidFill>
                <a:schemeClr val="bg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33" name="TXT2">
            <a:extLst>
              <a:ext uri="{FF2B5EF4-FFF2-40B4-BE49-F238E27FC236}">
                <a16:creationId xmlns:a16="http://schemas.microsoft.com/office/drawing/2014/main" id="{DAE14B43-4068-5D3A-EDB6-7CF3BA101350}"/>
              </a:ext>
            </a:extLst>
          </p:cNvPr>
          <p:cNvSpPr txBox="1"/>
          <p:nvPr/>
        </p:nvSpPr>
        <p:spPr>
          <a:xfrm>
            <a:off x="834830" y="4385998"/>
            <a:ext cx="2384385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>
              <a:lnSpc>
                <a:spcPct val="110000"/>
              </a:lnSpc>
              <a:buClr>
                <a:srgbClr val="FF33CC"/>
              </a:buClr>
            </a:pPr>
            <a:r>
              <a:rPr lang="pt-BR" dirty="0">
                <a:solidFill>
                  <a:schemeClr val="bg1">
                    <a:lumMod val="95000"/>
                    <a:lumOff val="5000"/>
                  </a:schemeClr>
                </a:solidFill>
              </a:rPr>
              <a:t>Tornar os cálculos de análise de probabilidade de pagamento ainda mais precisos.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1BEF62B-618D-2B2E-D23C-4191EB5F272D}"/>
              </a:ext>
            </a:extLst>
          </p:cNvPr>
          <p:cNvSpPr txBox="1"/>
          <p:nvPr/>
        </p:nvSpPr>
        <p:spPr>
          <a:xfrm>
            <a:off x="1918671" y="4016666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C2DEAB0-A8CF-51FC-DD69-0D8C296C3D9C}"/>
              </a:ext>
            </a:extLst>
          </p:cNvPr>
          <p:cNvSpPr txBox="1"/>
          <p:nvPr/>
        </p:nvSpPr>
        <p:spPr>
          <a:xfrm>
            <a:off x="10608871" y="4016666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2" name="Linha 3">
            <a:extLst>
              <a:ext uri="{FF2B5EF4-FFF2-40B4-BE49-F238E27FC236}">
                <a16:creationId xmlns:a16="http://schemas.microsoft.com/office/drawing/2014/main" id="{6ADF5E99-AB05-8F85-5CDB-964FC8E5A038}"/>
              </a:ext>
            </a:extLst>
          </p:cNvPr>
          <p:cNvSpPr>
            <a:spLocks/>
          </p:cNvSpPr>
          <p:nvPr/>
        </p:nvSpPr>
        <p:spPr bwMode="auto">
          <a:xfrm>
            <a:off x="6025096" y="1562531"/>
            <a:ext cx="143998" cy="2115111"/>
          </a:xfrm>
          <a:custGeom>
            <a:avLst/>
            <a:gdLst>
              <a:gd name="T0" fmla="*/ 274 w 274"/>
              <a:gd name="T1" fmla="*/ 354 h 354"/>
              <a:gd name="T2" fmla="*/ 0 w 274"/>
              <a:gd name="T3" fmla="*/ 11 h 354"/>
              <a:gd name="T4" fmla="*/ 0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622FD6B-7595-A8CB-50F6-88CFA23939AB}"/>
              </a:ext>
            </a:extLst>
          </p:cNvPr>
          <p:cNvSpPr txBox="1"/>
          <p:nvPr/>
        </p:nvSpPr>
        <p:spPr>
          <a:xfrm>
            <a:off x="5958403" y="3997729"/>
            <a:ext cx="258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4" name="TXT2">
            <a:extLst>
              <a:ext uri="{FF2B5EF4-FFF2-40B4-BE49-F238E27FC236}">
                <a16:creationId xmlns:a16="http://schemas.microsoft.com/office/drawing/2014/main" id="{C04DD9A9-E6CF-22FA-02A9-E2DB04AC77D4}"/>
              </a:ext>
            </a:extLst>
          </p:cNvPr>
          <p:cNvSpPr txBox="1"/>
          <p:nvPr/>
        </p:nvSpPr>
        <p:spPr>
          <a:xfrm>
            <a:off x="9352603" y="4385998"/>
            <a:ext cx="2384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dirty="0">
                <a:solidFill>
                  <a:schemeClr val="bg1">
                    <a:lumMod val="95000"/>
                    <a:lumOff val="5000"/>
                  </a:schemeClr>
                </a:solidFill>
              </a:rPr>
              <a:t>Otimização de acesso e visualização das métricas.</a:t>
            </a:r>
            <a:endParaRPr lang="pt-BR" i="0" dirty="0">
              <a:solidFill>
                <a:schemeClr val="bg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0B49BC-6B8C-B06C-89AA-5A0C8676F700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BENEFÍCIOS ESPERADOS</a:t>
            </a:r>
            <a:endParaRPr lang="pt-BR" sz="4000" dirty="0"/>
          </a:p>
        </p:txBody>
      </p:sp>
      <p:sp>
        <p:nvSpPr>
          <p:cNvPr id="19" name="Bolinha 3">
            <a:extLst>
              <a:ext uri="{FF2B5EF4-FFF2-40B4-BE49-F238E27FC236}">
                <a16:creationId xmlns:a16="http://schemas.microsoft.com/office/drawing/2014/main" id="{84DF3841-A3BF-6F67-45C0-D56F70984917}"/>
              </a:ext>
            </a:extLst>
          </p:cNvPr>
          <p:cNvSpPr/>
          <p:nvPr/>
        </p:nvSpPr>
        <p:spPr>
          <a:xfrm>
            <a:off x="5972498" y="1455566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93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17 -2.96296E-6 C -0.0082 0.0419 -0.02188 0.06088 -0.0724 0.09653 C -0.11706 0.13797 -0.14857 0.13241 -0.1569 0.21922 " pathEditMode="relative" rAng="16200000" ptsTypes="AAA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43" y="1097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03 -2.96296E-6 C -0.00403 0.05047 0.03828 0.06806 0.07227 0.08681 C 0.14453 0.13218 0.1737 0.13935 0.18099 0.20371 " pathEditMode="relative" rAng="16200000" ptsTypes="AAA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45" y="1018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2.29167E-6 2.96296E-6 L 0.01523 0.0467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3.95833E-6 -1.85185E-6 L 0.01523 0.04676 " pathEditMode="relative" rAng="0" ptsTypes="AA">
                                      <p:cBhvr>
                                        <p:cTn id="28" dur="7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3.75E-6 3.7037E-6 L 0.01524 0.04676 " pathEditMode="relative" rAng="0" ptsTypes="AA">
                                      <p:cBhvr>
                                        <p:cTn id="36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16 -0.00024 C -0.00416 0.05023 0.03815 0.06782 0.07214 0.08657 C 0.1444 0.13194 0.17357 0.13912 0.18086 0.20347 " pathEditMode="relative" rAng="16200000" ptsTypes="AAA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45" y="10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7" grpId="0" animBg="1"/>
      <p:bldP spid="17" grpId="1" animBg="1"/>
      <p:bldP spid="18" grpId="0" animBg="1"/>
      <p:bldP spid="18" grpId="1" animBg="1"/>
      <p:bldP spid="38" grpId="0"/>
      <p:bldP spid="38" grpId="1"/>
      <p:bldP spid="33" grpId="0"/>
      <p:bldP spid="33" grpId="1"/>
      <p:bldP spid="12" grpId="0" animBg="1"/>
      <p:bldP spid="14" grpId="0"/>
      <p:bldP spid="14" grpId="1"/>
      <p:bldP spid="19" grpId="0" animBg="1"/>
      <p:bldP spid="1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E16CE7A-7550-C60C-E78A-6A13DBCCE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250855"/>
              </p:ext>
            </p:extLst>
          </p:nvPr>
        </p:nvGraphicFramePr>
        <p:xfrm>
          <a:off x="2621245" y="1236464"/>
          <a:ext cx="6949509" cy="4698512"/>
        </p:xfrm>
        <a:graphic>
          <a:graphicData uri="http://schemas.openxmlformats.org/drawingml/2006/table">
            <a:tbl>
              <a:tblPr/>
              <a:tblGrid>
                <a:gridCol w="2316503">
                  <a:extLst>
                    <a:ext uri="{9D8B030D-6E8A-4147-A177-3AD203B41FA5}">
                      <a16:colId xmlns:a16="http://schemas.microsoft.com/office/drawing/2014/main" val="1012064015"/>
                    </a:ext>
                  </a:extLst>
                </a:gridCol>
                <a:gridCol w="2316503">
                  <a:extLst>
                    <a:ext uri="{9D8B030D-6E8A-4147-A177-3AD203B41FA5}">
                      <a16:colId xmlns:a16="http://schemas.microsoft.com/office/drawing/2014/main" val="3666496575"/>
                    </a:ext>
                  </a:extLst>
                </a:gridCol>
                <a:gridCol w="2316503">
                  <a:extLst>
                    <a:ext uri="{9D8B030D-6E8A-4147-A177-3AD203B41FA5}">
                      <a16:colId xmlns:a16="http://schemas.microsoft.com/office/drawing/2014/main" val="1232696315"/>
                    </a:ext>
                  </a:extLst>
                </a:gridCol>
              </a:tblGrid>
              <a:tr h="371818">
                <a:tc>
                  <a:txBody>
                    <a:bodyPr/>
                    <a:lstStyle/>
                    <a:p>
                      <a:pPr rtl="0"/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Característica</a:t>
                      </a:r>
                      <a:endParaRPr lang="pt-BR" sz="900">
                        <a:solidFill>
                          <a:srgbClr val="1B1C1D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SCORE BLEND PJ - Núclea</a:t>
                      </a:r>
                      <a:endParaRPr lang="pt-BR" sz="900">
                        <a:solidFill>
                          <a:srgbClr val="1B1C1D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SCORE BLEND PJ - Serasa (Serasa Score PJ)</a:t>
                      </a:r>
                      <a:endParaRPr lang="it-IT" sz="900">
                        <a:solidFill>
                          <a:srgbClr val="1B1C1D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929390"/>
                  </a:ext>
                </a:extLst>
              </a:tr>
              <a:tr h="363310">
                <a:tc>
                  <a:txBody>
                    <a:bodyPr/>
                    <a:lstStyle/>
                    <a:p>
                      <a:pPr rtl="0"/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Foco Principal</a:t>
                      </a:r>
                      <a:endParaRPr lang="pt-BR" sz="900">
                        <a:solidFill>
                          <a:srgbClr val="1B1C1D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Avaliação de risco de crédito para Pessoa Jurídica (PJ).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Avaliação de risco de crédito para Pessoa Jurídica (PJ).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566066"/>
                  </a:ext>
                </a:extLst>
              </a:tr>
              <a:tr h="809191">
                <a:tc>
                  <a:txBody>
                    <a:bodyPr/>
                    <a:lstStyle/>
                    <a:p>
                      <a:pPr rtl="0"/>
                      <a:r>
                        <a:rPr lang="pt-BR" sz="900" b="1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Base de Dados Chave</a:t>
                      </a:r>
                      <a:endParaRPr lang="pt-BR" sz="900" dirty="0">
                        <a:solidFill>
                          <a:srgbClr val="1B1C1D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Dados Transacionais Exclusivos</a:t>
                      </a:r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: Informações de movimentação financeira (como </a:t>
                      </a:r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boletos, TEDs e cartões</a:t>
                      </a:r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).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Dados Tradicionais</a:t>
                      </a:r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: Informações de crédito e comportamento do mercado (Cadastro Positivo, dívidas negativadas, protestos, cheques sem fundo, ações judiciais).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622024"/>
                  </a:ext>
                </a:extLst>
              </a:tr>
              <a:tr h="511938">
                <a:tc>
                  <a:txBody>
                    <a:bodyPr/>
                    <a:lstStyle/>
                    <a:p>
                      <a:pPr rtl="0"/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Fontes de Dados Adicionais</a:t>
                      </a:r>
                      <a:endParaRPr lang="pt-BR" sz="900">
                        <a:solidFill>
                          <a:srgbClr val="1B1C1D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Complemento com dados cadastrais, informações de risco de mercado e outros.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Envolve dados cadastrais, pendências financeiras e hábitos de pagamento dos sócios.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616430"/>
                  </a:ext>
                </a:extLst>
              </a:tr>
              <a:tr h="957817">
                <a:tc>
                  <a:txBody>
                    <a:bodyPr/>
                    <a:lstStyle/>
                    <a:p>
                      <a:pPr rtl="0"/>
                      <a:r>
                        <a:rPr lang="pt-BR" sz="900" b="1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Diferencial Competitivo</a:t>
                      </a:r>
                      <a:endParaRPr lang="pt-BR" sz="900" dirty="0">
                        <a:solidFill>
                          <a:srgbClr val="1B1C1D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 b="1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Profundidade e exclusividade</a:t>
                      </a:r>
                      <a:r>
                        <a:rPr lang="pt-BR" sz="900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na análise da </a:t>
                      </a:r>
                      <a:r>
                        <a:rPr lang="pt-BR" sz="900" b="1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movimentação financeira</a:t>
                      </a:r>
                      <a:r>
                        <a:rPr lang="pt-BR" sz="900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(pagamentos e recebimentos) dos CNPJs, mesmo sem reciprocidade (o envio de informações do cliente).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 b="1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Abrangência</a:t>
                      </a:r>
                      <a:r>
                        <a:rPr lang="pt-BR" sz="900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e </a:t>
                      </a:r>
                      <a:r>
                        <a:rPr lang="pt-BR" sz="900" b="1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reconhecimento no mercado</a:t>
                      </a:r>
                      <a:r>
                        <a:rPr lang="pt-BR" sz="900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sendo o score PJ mais consultado no Brasil.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22485"/>
                  </a:ext>
                </a:extLst>
              </a:tr>
              <a:tr h="809191">
                <a:tc>
                  <a:txBody>
                    <a:bodyPr/>
                    <a:lstStyle/>
                    <a:p>
                      <a:pPr rtl="0"/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Metodologia de Cálculo</a:t>
                      </a:r>
                      <a:endParaRPr lang="pt-BR" sz="900">
                        <a:solidFill>
                          <a:srgbClr val="1B1C1D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Utiliza </a:t>
                      </a:r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Inteligência Artificial (IA)</a:t>
                      </a:r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e </a:t>
                      </a:r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Machine Learning</a:t>
                      </a:r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com foco em dados transacionais para prever propensão a pagamento, inadimplência e saúde financeira.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Baseado em </a:t>
                      </a:r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pilares ponderados</a:t>
                      </a:r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que incluem: Experiência no mercado, Dívidas e pendências, Busca por crédito e Cadastro Positivo.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961394"/>
                  </a:ext>
                </a:extLst>
              </a:tr>
              <a:tr h="214683">
                <a:tc>
                  <a:txBody>
                    <a:bodyPr/>
                    <a:lstStyle/>
                    <a:p>
                      <a:pPr rtl="0"/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Escala de Pontuação</a:t>
                      </a:r>
                      <a:endParaRPr lang="pt-BR" sz="900">
                        <a:solidFill>
                          <a:srgbClr val="1B1C1D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Geralmente de </a:t>
                      </a:r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 a 1000</a:t>
                      </a:r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Geralmente de </a:t>
                      </a:r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 a 1000</a:t>
                      </a:r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105788"/>
                  </a:ext>
                </a:extLst>
              </a:tr>
              <a:tr h="660564">
                <a:tc>
                  <a:txBody>
                    <a:bodyPr/>
                    <a:lstStyle/>
                    <a:p>
                      <a:pPr rtl="0"/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Propósito</a:t>
                      </a:r>
                      <a:endParaRPr lang="pt-BR" sz="900">
                        <a:solidFill>
                          <a:srgbClr val="1B1C1D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Oferecer uma visão aprofundada da </a:t>
                      </a:r>
                      <a:r>
                        <a:rPr lang="pt-BR" sz="900" b="1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saúde financeira</a:t>
                      </a:r>
                      <a:r>
                        <a:rPr lang="pt-BR" sz="90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da PJ, ideal para análises de crédito mais detalhadas.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900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Indicar a </a:t>
                      </a:r>
                      <a:r>
                        <a:rPr lang="pt-BR" sz="900" b="1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probabilidade de inadimplência</a:t>
                      </a:r>
                      <a:r>
                        <a:rPr lang="pt-BR" sz="900" dirty="0">
                          <a:solidFill>
                            <a:srgbClr val="1B1C1D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da empresa nos próximos 6 ou 12 meses, para decisões de crédito e negócios.</a:t>
                      </a:r>
                    </a:p>
                  </a:txBody>
                  <a:tcPr marL="45965" marR="45965" marT="30643" marB="3064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433584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24346160-7BBF-2946-9F2D-CC0A42F96B94}"/>
              </a:ext>
            </a:extLst>
          </p:cNvPr>
          <p:cNvSpPr txBox="1"/>
          <p:nvPr/>
        </p:nvSpPr>
        <p:spPr>
          <a:xfrm>
            <a:off x="452284" y="6125497"/>
            <a:ext cx="110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Dentre os principais concorrentes da Núclea a Serasa é a única que apresenta a solução Score Blend PJ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076D4F-87B2-1DD2-6F71-F60425D87F44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COMPARATIVO COM A CONCORRÊNCIA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938678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F8A9702-31B7-375A-CBA0-ED9000AF6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4814" y="1112117"/>
            <a:ext cx="7422372" cy="3892669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accent2">
                    <a:lumMod val="75000"/>
                  </a:schemeClr>
                </a:solidFill>
              </a:rPr>
              <a:t>MUITO OBRIGADO	</a:t>
            </a:r>
          </a:p>
        </p:txBody>
      </p:sp>
    </p:spTree>
    <p:extLst>
      <p:ext uri="{BB962C8B-B14F-4D97-AF65-F5344CB8AC3E}">
        <p14:creationId xmlns:p14="http://schemas.microsoft.com/office/powerpoint/2010/main" val="38262540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Personalizada 3">
      <a:dk1>
        <a:sysClr val="windowText" lastClr="000000"/>
      </a:dk1>
      <a:lt1>
        <a:srgbClr val="00B0F0"/>
      </a:lt1>
      <a:dk2>
        <a:srgbClr val="FFFFFF"/>
      </a:dk2>
      <a:lt2>
        <a:srgbClr val="FFFFFF"/>
      </a:lt2>
      <a:accent1>
        <a:srgbClr val="C9F0FE"/>
      </a:accent1>
      <a:accent2>
        <a:srgbClr val="93E2FF"/>
      </a:accent2>
      <a:accent3>
        <a:srgbClr val="5CD3FF"/>
      </a:accent3>
      <a:accent4>
        <a:srgbClr val="C9F0FE"/>
      </a:accent4>
      <a:accent5>
        <a:srgbClr val="93E2FF"/>
      </a:accent5>
      <a:accent6>
        <a:srgbClr val="0084B4"/>
      </a:accent6>
      <a:hlink>
        <a:srgbClr val="FFFFFF"/>
      </a:hlink>
      <a:folHlink>
        <a:srgbClr val="FFFFFF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b046cae-d1d8-432d-b4bb-58d09b590569">
      <Terms xmlns="http://schemas.microsoft.com/office/infopath/2007/PartnerControls"/>
    </lcf76f155ced4ddcb4097134ff3c332f>
    <TaxCatchAll xmlns="eb947af2-26f0-411d-a536-f4cbb904cdf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73F43C90795D34597BB9869193EBE29" ma:contentTypeVersion="15" ma:contentTypeDescription="Crie um novo documento." ma:contentTypeScope="" ma:versionID="00a0ea9950405a70c08d1d3e4a801b64">
  <xsd:schema xmlns:xsd="http://www.w3.org/2001/XMLSchema" xmlns:xs="http://www.w3.org/2001/XMLSchema" xmlns:p="http://schemas.microsoft.com/office/2006/metadata/properties" xmlns:ns2="5b046cae-d1d8-432d-b4bb-58d09b590569" xmlns:ns3="eb947af2-26f0-411d-a536-f4cbb904cdf6" targetNamespace="http://schemas.microsoft.com/office/2006/metadata/properties" ma:root="true" ma:fieldsID="e3cb18428cee16959cd2e432e111554b" ns2:_="" ns3:_="">
    <xsd:import namespace="5b046cae-d1d8-432d-b4bb-58d09b590569"/>
    <xsd:import namespace="eb947af2-26f0-411d-a536-f4cbb904cd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046cae-d1d8-432d-b4bb-58d09b5905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947af2-26f0-411d-a536-f4cbb904cdf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13bee62-8620-4ab6-95a3-31e8dce403ba}" ma:internalName="TaxCatchAll" ma:showField="CatchAllData" ma:web="eb947af2-26f0-411d-a536-f4cbb904cd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FCB130-610E-42D1-96E6-E37A36A00C38}">
  <ds:schemaRefs>
    <ds:schemaRef ds:uri="http://schemas.microsoft.com/office/2006/metadata/properties"/>
    <ds:schemaRef ds:uri="http://schemas.microsoft.com/office/infopath/2007/PartnerControls"/>
    <ds:schemaRef ds:uri="eb947af2-26f0-411d-a536-f4cbb904cdf6"/>
    <ds:schemaRef ds:uri="5b046cae-d1d8-432d-b4bb-58d09b590569"/>
    <ds:schemaRef ds:uri="a6194295-1792-4b63-878c-b29c2ff82726"/>
    <ds:schemaRef ds:uri="49c50ba2-eaf4-4058-b769-73a32109933c"/>
  </ds:schemaRefs>
</ds:datastoreItem>
</file>

<file path=customXml/itemProps2.xml><?xml version="1.0" encoding="utf-8"?>
<ds:datastoreItem xmlns:ds="http://schemas.openxmlformats.org/officeDocument/2006/customXml" ds:itemID="{7655FB1E-AACD-49D4-9EF6-79F5BA19FB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046cae-d1d8-432d-b4bb-58d09b590569"/>
    <ds:schemaRef ds:uri="eb947af2-26f0-411d-a536-f4cbb904cd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70728C-C564-4F19-991F-61AEE70E38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sales strategy presentation</Template>
  <TotalTime>460</TotalTime>
  <Words>750</Words>
  <Application>Microsoft Office PowerPoint</Application>
  <PresentationFormat>Widescreen</PresentationFormat>
  <Paragraphs>62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Aptos</vt:lpstr>
      <vt:lpstr>Arial</vt:lpstr>
      <vt:lpstr>Poppins</vt:lpstr>
      <vt:lpstr>Poppins SemiBold</vt:lpstr>
      <vt:lpstr>Roboto</vt:lpstr>
      <vt:lpstr>Wingdings</vt:lpstr>
      <vt:lpstr>Custom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MUITO OBRIGADO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Gabriel Scarpino</cp:lastModifiedBy>
  <cp:revision>39</cp:revision>
  <dcterms:created xsi:type="dcterms:W3CDTF">2016-03-03T21:44:23Z</dcterms:created>
  <dcterms:modified xsi:type="dcterms:W3CDTF">2025-11-08T18:00:38Z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0x010100073F43C90795D34597BB9869193EBE29</vt:lpwstr>
  </property>
  <property fmtid="{D5CDD505-2E9C-101B-9397-08002B2CF9AE}" pid="3" name="MediaServiceImageTags">
    <vt:lpwstr/>
  </property>
  <property fmtid="{D5CDD505-2E9C-101B-9397-08002B2CF9AE}" pid="4" name="Order">
    <vt:r8>148400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